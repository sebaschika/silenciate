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22"/>
  </p:notesMasterIdLst>
  <p:sldIdLst>
    <p:sldId id="256" r:id="rId2"/>
    <p:sldId id="260" r:id="rId3"/>
    <p:sldId id="261" r:id="rId4"/>
    <p:sldId id="262" r:id="rId5"/>
    <p:sldId id="273" r:id="rId6"/>
    <p:sldId id="282" r:id="rId7"/>
    <p:sldId id="283" r:id="rId8"/>
    <p:sldId id="284" r:id="rId9"/>
    <p:sldId id="275" r:id="rId10"/>
    <p:sldId id="280" r:id="rId11"/>
    <p:sldId id="279" r:id="rId12"/>
    <p:sldId id="285" r:id="rId13"/>
    <p:sldId id="281" r:id="rId14"/>
    <p:sldId id="286" r:id="rId15"/>
    <p:sldId id="276" r:id="rId16"/>
    <p:sldId id="277" r:id="rId17"/>
    <p:sldId id="278" r:id="rId18"/>
    <p:sldId id="287" r:id="rId19"/>
    <p:sldId id="268" r:id="rId20"/>
    <p:sldId id="272" r:id="rId21"/>
  </p:sldIdLst>
  <p:sldSz cx="9144000" cy="5143500" type="screen16x9"/>
  <p:notesSz cx="6858000" cy="9144000"/>
  <p:embeddedFontLst>
    <p:embeddedFont>
      <p:font typeface="Calibri Light" panose="020F0302020204030204" pitchFamily="34" charset="0"/>
      <p:regular r:id="rId23"/>
      <p:italic r:id="rId24"/>
    </p:embeddedFont>
    <p:embeddedFont>
      <p:font typeface="Calibri" panose="020F0502020204030204" pitchFamily="34" charset="0"/>
      <p:regular r:id="rId25"/>
      <p:bold r:id="rId26"/>
      <p:italic r:id="rId27"/>
      <p:boldItalic r:id="rId28"/>
    </p:embeddedFont>
    <p:embeddedFont>
      <p:font typeface="MS PGothic" panose="020B0600070205080204" pitchFamily="34" charset="-128"/>
      <p:regular r:id="rId29"/>
    </p:embeddedFont>
    <p:embeddedFont>
      <p:font typeface="Arial Narrow" panose="020B0606020202030204"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BC50D8-00C2-4B55-89BD-E62906BFA9D7}">
  <a:tblStyle styleId="{C4BC50D8-00C2-4B55-89BD-E62906BFA9D7}"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88" autoAdjust="0"/>
    <p:restoredTop sz="94660"/>
  </p:normalViewPr>
  <p:slideViewPr>
    <p:cSldViewPr snapToGrid="0">
      <p:cViewPr varScale="1">
        <p:scale>
          <a:sx n="92" d="100"/>
          <a:sy n="92" d="100"/>
        </p:scale>
        <p:origin x="960"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
        <p:cNvGrpSpPr/>
        <p:nvPr/>
      </p:nvGrpSpPr>
      <p:grpSpPr>
        <a:xfrm>
          <a:off x="0" y="0"/>
          <a:ext cx="0" cy="0"/>
          <a:chOff x="0" y="0"/>
          <a:chExt cx="0" cy="0"/>
        </a:xfrm>
      </p:grpSpPr>
      <p:sp>
        <p:nvSpPr>
          <p:cNvPr id="29" name="Google Shape;29;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0" name="Google Shape;3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6" name="Google Shape;48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9" name="Google Shape;49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03356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8526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05586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0151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0961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337323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356182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06303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5606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112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981826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389034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26094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37098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1" name="Google Shape;65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5" name="Google Shape;74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a:stretch/>
        </p:blipFill>
        <p:spPr>
          <a:xfrm>
            <a:off x="0" y="0"/>
            <a:ext cx="9144000" cy="5143524"/>
          </a:xfrm>
          <a:prstGeom prst="rect">
            <a:avLst/>
          </a:prstGeom>
          <a:noFill/>
          <a:ln>
            <a:noFill/>
          </a:ln>
        </p:spPr>
      </p:pic>
      <p:sp>
        <p:nvSpPr>
          <p:cNvPr id="11" name="Google Shape;11;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2">
  <p:cSld name="TITLE_3">
    <p:bg>
      <p:bgPr>
        <a:blipFill>
          <a:blip r:embed="rId2">
            <a:alphaModFix/>
          </a:blip>
          <a:stretch>
            <a:fillRect/>
          </a:stretch>
        </a:blipFill>
        <a:effectLst/>
      </p:bgPr>
    </p:bg>
    <p:spTree>
      <p:nvGrpSpPr>
        <p:cNvPr id="1" name="Shape 15"/>
        <p:cNvGrpSpPr/>
        <p:nvPr/>
      </p:nvGrpSpPr>
      <p:grpSpPr>
        <a:xfrm>
          <a:off x="0" y="0"/>
          <a:ext cx="0" cy="0"/>
          <a:chOff x="0" y="0"/>
          <a:chExt cx="0" cy="0"/>
        </a:xfrm>
      </p:grpSpPr>
      <p:pic>
        <p:nvPicPr>
          <p:cNvPr id="16" name="Google Shape;16;p4"/>
          <p:cNvPicPr preferRelativeResize="0"/>
          <p:nvPr/>
        </p:nvPicPr>
        <p:blipFill rotWithShape="1">
          <a:blip r:embed="rId2">
            <a:alphaModFix/>
          </a:blip>
          <a:srcRect/>
          <a:stretch/>
        </p:blipFill>
        <p:spPr>
          <a:xfrm>
            <a:off x="0" y="0"/>
            <a:ext cx="9144000" cy="514350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1">
  <p:cSld name="TITLE_4">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5"/>
          <p:cNvPicPr preferRelativeResize="0"/>
          <p:nvPr/>
        </p:nvPicPr>
        <p:blipFill rotWithShape="1">
          <a:blip r:embed="rId2">
            <a:alphaModFix/>
          </a:blip>
          <a:srcRect/>
          <a:stretch/>
        </p:blipFill>
        <p:spPr>
          <a:xfrm>
            <a:off x="0" y="0"/>
            <a:ext cx="9144019" cy="51435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25" name="Google Shape;25;p8"/>
          <p:cNvPicPr preferRelativeResize="0"/>
          <p:nvPr/>
        </p:nvPicPr>
        <p:blipFill rotWithShape="1">
          <a:blip r:embed="rId2">
            <a:alphaModFix/>
          </a:blip>
          <a:srcRect/>
          <a:stretch/>
        </p:blipFill>
        <p:spPr>
          <a:xfrm>
            <a:off x="0" y="0"/>
            <a:ext cx="9144005" cy="51435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apositiva de título">
  <p:cSld name="TITLE_2">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9"/>
          <p:cNvPicPr preferRelativeResize="0"/>
          <p:nvPr/>
        </p:nvPicPr>
        <p:blipFill rotWithShape="1">
          <a:blip r:embed="rId2">
            <a:alphaModFix/>
          </a:blip>
          <a:srcRect/>
          <a:stretch/>
        </p:blipFill>
        <p:spPr>
          <a:xfrm>
            <a:off x="0" y="0"/>
            <a:ext cx="9144000" cy="514350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500"/>
              <a:buFont typeface="Calibri"/>
              <a:buNone/>
              <a:defRPr sz="35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Calibri"/>
              <a:buChar char="●"/>
              <a:defRPr sz="1800" b="0" i="0" u="none" strike="noStrike" cap="none">
                <a:solidFill>
                  <a:schemeClr val="dk2"/>
                </a:solidFill>
                <a:latin typeface="Calibri"/>
                <a:ea typeface="Calibri"/>
                <a:cs typeface="Calibri"/>
                <a:sym typeface="Calibri"/>
              </a:defRPr>
            </a:lvl1pPr>
            <a:lvl2pPr marL="914400" marR="0" lvl="1" indent="-317500" algn="l" rtl="0">
              <a:lnSpc>
                <a:spcPct val="115000"/>
              </a:lnSpc>
              <a:spcBef>
                <a:spcPts val="0"/>
              </a:spcBef>
              <a:spcAft>
                <a:spcPts val="0"/>
              </a:spcAft>
              <a:buClr>
                <a:schemeClr val="dk2"/>
              </a:buClr>
              <a:buSzPts val="1400"/>
              <a:buFont typeface="Calibri"/>
              <a:buChar char="○"/>
              <a:defRPr sz="1400" b="0" i="0" u="none" strike="noStrike" cap="none">
                <a:solidFill>
                  <a:schemeClr val="dk2"/>
                </a:solidFill>
                <a:latin typeface="Calibri"/>
                <a:ea typeface="Calibri"/>
                <a:cs typeface="Calibri"/>
                <a:sym typeface="Calibri"/>
              </a:defRPr>
            </a:lvl2pPr>
            <a:lvl3pPr marL="1371600" marR="0" lvl="2" indent="-317500" algn="l" rtl="0">
              <a:lnSpc>
                <a:spcPct val="115000"/>
              </a:lnSpc>
              <a:spcBef>
                <a:spcPts val="0"/>
              </a:spcBef>
              <a:spcAft>
                <a:spcPts val="0"/>
              </a:spcAft>
              <a:buClr>
                <a:schemeClr val="dk2"/>
              </a:buClr>
              <a:buSzPts val="1400"/>
              <a:buFont typeface="Calibri"/>
              <a:buChar char="■"/>
              <a:defRPr sz="1400" b="0" i="0" u="none" strike="noStrike" cap="none">
                <a:solidFill>
                  <a:schemeClr val="dk2"/>
                </a:solidFill>
                <a:latin typeface="Calibri"/>
                <a:ea typeface="Calibri"/>
                <a:cs typeface="Calibri"/>
                <a:sym typeface="Calibri"/>
              </a:defRPr>
            </a:lvl3pPr>
            <a:lvl4pPr marL="1828800" marR="0" lvl="3" indent="-317500" algn="l" rtl="0">
              <a:lnSpc>
                <a:spcPct val="115000"/>
              </a:lnSpc>
              <a:spcBef>
                <a:spcPts val="0"/>
              </a:spcBef>
              <a:spcAft>
                <a:spcPts val="0"/>
              </a:spcAft>
              <a:buClr>
                <a:schemeClr val="dk2"/>
              </a:buClr>
              <a:buSzPts val="1400"/>
              <a:buFont typeface="Calibri"/>
              <a:buChar char="●"/>
              <a:defRPr sz="1400" b="0" i="0" u="none" strike="noStrike" cap="none">
                <a:solidFill>
                  <a:schemeClr val="dk2"/>
                </a:solidFill>
                <a:latin typeface="Calibri"/>
                <a:ea typeface="Calibri"/>
                <a:cs typeface="Calibri"/>
                <a:sym typeface="Calibri"/>
              </a:defRPr>
            </a:lvl4pPr>
            <a:lvl5pPr marL="2286000" marR="0" lvl="4" indent="-317500" algn="l" rtl="0">
              <a:lnSpc>
                <a:spcPct val="115000"/>
              </a:lnSpc>
              <a:spcBef>
                <a:spcPts val="0"/>
              </a:spcBef>
              <a:spcAft>
                <a:spcPts val="0"/>
              </a:spcAft>
              <a:buClr>
                <a:schemeClr val="dk2"/>
              </a:buClr>
              <a:buSzPts val="1400"/>
              <a:buFont typeface="Calibri"/>
              <a:buChar char="○"/>
              <a:defRPr sz="1400" b="0" i="0" u="none" strike="noStrike" cap="none">
                <a:solidFill>
                  <a:schemeClr val="dk2"/>
                </a:solidFill>
                <a:latin typeface="Calibri"/>
                <a:ea typeface="Calibri"/>
                <a:cs typeface="Calibri"/>
                <a:sym typeface="Calibri"/>
              </a:defRPr>
            </a:lvl5pPr>
            <a:lvl6pPr marL="2743200" marR="0" lvl="5" indent="-317500" algn="l" rtl="0">
              <a:lnSpc>
                <a:spcPct val="115000"/>
              </a:lnSpc>
              <a:spcBef>
                <a:spcPts val="0"/>
              </a:spcBef>
              <a:spcAft>
                <a:spcPts val="0"/>
              </a:spcAft>
              <a:buClr>
                <a:schemeClr val="dk2"/>
              </a:buClr>
              <a:buSzPts val="1400"/>
              <a:buFont typeface="Calibri"/>
              <a:buChar char="■"/>
              <a:defRPr sz="1400" b="0" i="0" u="none" strike="noStrike" cap="none">
                <a:solidFill>
                  <a:schemeClr val="dk2"/>
                </a:solidFill>
                <a:latin typeface="Calibri"/>
                <a:ea typeface="Calibri"/>
                <a:cs typeface="Calibri"/>
                <a:sym typeface="Calibri"/>
              </a:defRPr>
            </a:lvl6pPr>
            <a:lvl7pPr marL="3200400" marR="0" lvl="6" indent="-317500" algn="l" rtl="0">
              <a:lnSpc>
                <a:spcPct val="115000"/>
              </a:lnSpc>
              <a:spcBef>
                <a:spcPts val="0"/>
              </a:spcBef>
              <a:spcAft>
                <a:spcPts val="0"/>
              </a:spcAft>
              <a:buClr>
                <a:schemeClr val="dk2"/>
              </a:buClr>
              <a:buSzPts val="1400"/>
              <a:buFont typeface="Calibri"/>
              <a:buChar char="●"/>
              <a:defRPr sz="1400" b="0" i="0" u="none" strike="noStrike" cap="none">
                <a:solidFill>
                  <a:schemeClr val="dk2"/>
                </a:solidFill>
                <a:latin typeface="Calibri"/>
                <a:ea typeface="Calibri"/>
                <a:cs typeface="Calibri"/>
                <a:sym typeface="Calibri"/>
              </a:defRPr>
            </a:lvl7pPr>
            <a:lvl8pPr marL="3657600" marR="0" lvl="7" indent="-317500" algn="l" rtl="0">
              <a:lnSpc>
                <a:spcPct val="115000"/>
              </a:lnSpc>
              <a:spcBef>
                <a:spcPts val="0"/>
              </a:spcBef>
              <a:spcAft>
                <a:spcPts val="0"/>
              </a:spcAft>
              <a:buClr>
                <a:schemeClr val="dk2"/>
              </a:buClr>
              <a:buSzPts val="1400"/>
              <a:buFont typeface="Calibri"/>
              <a:buChar char="○"/>
              <a:defRPr sz="1400" b="0" i="0" u="none" strike="noStrike" cap="none">
                <a:solidFill>
                  <a:schemeClr val="dk2"/>
                </a:solidFill>
                <a:latin typeface="Calibri"/>
                <a:ea typeface="Calibri"/>
                <a:cs typeface="Calibri"/>
                <a:sym typeface="Calibri"/>
              </a:defRPr>
            </a:lvl8pPr>
            <a:lvl9pPr marL="4114800" marR="0" lvl="8" indent="-317500" algn="l" rtl="0">
              <a:lnSpc>
                <a:spcPct val="115000"/>
              </a:lnSpc>
              <a:spcBef>
                <a:spcPts val="0"/>
              </a:spcBef>
              <a:spcAft>
                <a:spcPts val="0"/>
              </a:spcAft>
              <a:buClr>
                <a:schemeClr val="dk2"/>
              </a:buClr>
              <a:buSzPts val="1400"/>
              <a:buFont typeface="Calibri"/>
              <a:buChar char="■"/>
              <a:defRPr sz="1400" b="0" i="0" u="none" strike="noStrike" cap="none">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10.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5.jp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5.jp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
        <p:cNvGrpSpPr/>
        <p:nvPr/>
      </p:nvGrpSpPr>
      <p:grpSpPr>
        <a:xfrm>
          <a:off x="0" y="0"/>
          <a:ext cx="0" cy="0"/>
          <a:chOff x="0" y="0"/>
          <a:chExt cx="0" cy="0"/>
        </a:xfrm>
      </p:grpSpPr>
      <p:sp>
        <p:nvSpPr>
          <p:cNvPr id="5" name="CuadroTexto 5">
            <a:extLst>
              <a:ext uri="{FF2B5EF4-FFF2-40B4-BE49-F238E27FC236}">
                <a16:creationId xmlns:a16="http://schemas.microsoft.com/office/drawing/2014/main" id="{37AC507C-8FA4-802C-085F-69A6CF4CEA2A}"/>
              </a:ext>
            </a:extLst>
          </p:cNvPr>
          <p:cNvSpPr txBox="1"/>
          <p:nvPr/>
        </p:nvSpPr>
        <p:spPr>
          <a:xfrm>
            <a:off x="1496804" y="151449"/>
            <a:ext cx="4873336" cy="1200329"/>
          </a:xfrm>
          <a:prstGeom prst="rect">
            <a:avLst/>
          </a:prstGeom>
          <a:noFill/>
          <a:ln>
            <a:noFill/>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s-ES" sz="7200" b="1" dirty="0" smtClean="0">
                <a:solidFill>
                  <a:srgbClr val="FFFFFF"/>
                </a:solidFill>
              </a:rPr>
              <a:t>Silénciate</a:t>
            </a:r>
            <a:endParaRPr kumimoji="0" lang="es-CO" sz="7200" b="1" i="0" u="none" strike="noStrike" kern="0" cap="none" spc="0" normalizeH="0" baseline="0" noProof="0" dirty="0">
              <a:ln>
                <a:noFill/>
              </a:ln>
              <a:solidFill>
                <a:srgbClr val="FFFFFF"/>
              </a:solidFill>
              <a:effectLst/>
              <a:uLnTx/>
              <a:uFillTx/>
            </a:endParaRPr>
          </a:p>
        </p:txBody>
      </p:sp>
      <p:sp>
        <p:nvSpPr>
          <p:cNvPr id="6" name="CuadroTexto 6">
            <a:extLst>
              <a:ext uri="{FF2B5EF4-FFF2-40B4-BE49-F238E27FC236}">
                <a16:creationId xmlns:a16="http://schemas.microsoft.com/office/drawing/2014/main" id="{5BBD72BC-550D-2CC5-9CC7-6561AB61E0FA}"/>
              </a:ext>
            </a:extLst>
          </p:cNvPr>
          <p:cNvSpPr txBox="1">
            <a:spLocks noChangeArrowheads="1"/>
          </p:cNvSpPr>
          <p:nvPr/>
        </p:nvSpPr>
        <p:spPr bwMode="auto">
          <a:xfrm>
            <a:off x="2120181" y="2032227"/>
            <a:ext cx="59119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r>
              <a:rPr lang="es-ES" altLang="es-CO" sz="2400" b="1" dirty="0" smtClean="0">
                <a:solidFill>
                  <a:srgbClr val="FFD966"/>
                </a:solidFill>
                <a:latin typeface="Calibri Light" panose="020F0302020204030204" pitchFamily="34" charset="0"/>
              </a:rPr>
              <a:t>Sebastián Alejandro Chica</a:t>
            </a:r>
            <a:endParaRPr lang="es-CO" altLang="es-CO" sz="2400" b="1" dirty="0">
              <a:solidFill>
                <a:srgbClr val="FFD966"/>
              </a:solidFill>
              <a:latin typeface="Calibri Light" panose="020F0302020204030204" pitchFamily="34" charset="0"/>
            </a:endParaRPr>
          </a:p>
        </p:txBody>
      </p:sp>
      <p:pic>
        <p:nvPicPr>
          <p:cNvPr id="2" name="image3.jpg">
            <a:extLst>
              <a:ext uri="{FF2B5EF4-FFF2-40B4-BE49-F238E27FC236}">
                <a16:creationId xmlns:a16="http://schemas.microsoft.com/office/drawing/2014/main" id="{79D08650-41A2-C8E2-1846-2874D22F07B6}"/>
              </a:ext>
            </a:extLst>
          </p:cNvPr>
          <p:cNvPicPr/>
          <p:nvPr/>
        </p:nvPicPr>
        <p:blipFill rotWithShape="1">
          <a:blip r:embed="rId4"/>
          <a:srcRect l="75951" t="14425" b="17892"/>
          <a:stretch/>
        </p:blipFill>
        <p:spPr bwMode="auto">
          <a:xfrm>
            <a:off x="6370140" y="251893"/>
            <a:ext cx="2569028" cy="1308821"/>
          </a:xfrm>
          <a:prstGeom prst="rect">
            <a:avLst/>
          </a:prstGeom>
          <a:ln>
            <a:noFill/>
          </a:ln>
          <a:extLst>
            <a:ext uri="{53640926-AAD7-44D8-BBD7-CCE9431645EC}">
              <a14:shadowObscured xmlns:a14="http://schemas.microsoft.com/office/drawing/2010/main"/>
            </a:ext>
          </a:extLst>
        </p:spPr>
      </p:pic>
      <p:sp>
        <p:nvSpPr>
          <p:cNvPr id="3" name="CuadroTexto 2">
            <a:extLst>
              <a:ext uri="{FF2B5EF4-FFF2-40B4-BE49-F238E27FC236}">
                <a16:creationId xmlns:a16="http://schemas.microsoft.com/office/drawing/2014/main" id="{9E942E35-5F17-EDA7-B0D4-83F5B69DA07A}"/>
              </a:ext>
            </a:extLst>
          </p:cNvPr>
          <p:cNvSpPr txBox="1"/>
          <p:nvPr/>
        </p:nvSpPr>
        <p:spPr>
          <a:xfrm>
            <a:off x="4659086" y="3479837"/>
            <a:ext cx="3087286" cy="40011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 sz="2000" b="1" dirty="0">
                <a:latin typeface="Calibri" panose="020F0502020204030204" pitchFamily="34" charset="0"/>
                <a:cs typeface="Calibri" panose="020F0502020204030204" pitchFamily="34" charset="0"/>
              </a:rPr>
              <a:t>    Formar- Servir - Cuidar</a:t>
            </a:r>
            <a:endParaRPr lang="es-CO" sz="2000" b="1" dirty="0">
              <a:latin typeface="Calibri" panose="020F0502020204030204" pitchFamily="34" charset="0"/>
              <a:cs typeface="Calibri" panose="020F0502020204030204" pitchFamily="34" charset="0"/>
            </a:endParaRPr>
          </a:p>
        </p:txBody>
      </p:sp>
      <p:sp>
        <p:nvSpPr>
          <p:cNvPr id="8" name="CuadroTexto 6">
            <a:extLst>
              <a:ext uri="{FF2B5EF4-FFF2-40B4-BE49-F238E27FC236}">
                <a16:creationId xmlns:a16="http://schemas.microsoft.com/office/drawing/2014/main" id="{5BBD72BC-550D-2CC5-9CC7-6561AB61E0FA}"/>
              </a:ext>
            </a:extLst>
          </p:cNvPr>
          <p:cNvSpPr txBox="1">
            <a:spLocks noChangeArrowheads="1"/>
          </p:cNvSpPr>
          <p:nvPr/>
        </p:nvSpPr>
        <p:spPr bwMode="auto">
          <a:xfrm>
            <a:off x="1944050" y="2708205"/>
            <a:ext cx="59119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r>
              <a:rPr lang="es-ES" altLang="es-CO" sz="2400" b="1" dirty="0">
                <a:solidFill>
                  <a:srgbClr val="FFD966"/>
                </a:solidFill>
                <a:latin typeface="Calibri Light" panose="020F0302020204030204" pitchFamily="34" charset="0"/>
              </a:rPr>
              <a:t>S</a:t>
            </a:r>
            <a:r>
              <a:rPr lang="es-ES" altLang="es-CO" sz="2400" b="1" dirty="0" smtClean="0">
                <a:solidFill>
                  <a:srgbClr val="FFD966"/>
                </a:solidFill>
                <a:latin typeface="Calibri Light" panose="020F0302020204030204" pitchFamily="34" charset="0"/>
              </a:rPr>
              <a:t>amuel Cáceres Álzate</a:t>
            </a:r>
            <a:endParaRPr lang="es-CO" altLang="es-CO" sz="2400" b="1" dirty="0">
              <a:solidFill>
                <a:srgbClr val="FFD966"/>
              </a:solidFill>
              <a:latin typeface="Calibri Light" panose="020F0302020204030204" pitchFamily="34" charset="0"/>
            </a:endParaRPr>
          </a:p>
        </p:txBody>
      </p:sp>
      <p:sp>
        <p:nvSpPr>
          <p:cNvPr id="9" name="CuadroTexto 6">
            <a:extLst>
              <a:ext uri="{FF2B5EF4-FFF2-40B4-BE49-F238E27FC236}">
                <a16:creationId xmlns:a16="http://schemas.microsoft.com/office/drawing/2014/main" id="{5BBD72BC-550D-2CC5-9CC7-6561AB61E0FA}"/>
              </a:ext>
            </a:extLst>
          </p:cNvPr>
          <p:cNvSpPr txBox="1">
            <a:spLocks noChangeArrowheads="1"/>
          </p:cNvSpPr>
          <p:nvPr/>
        </p:nvSpPr>
        <p:spPr bwMode="auto">
          <a:xfrm>
            <a:off x="2272264" y="2385030"/>
            <a:ext cx="59119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r>
              <a:rPr lang="es-ES" altLang="es-CO" sz="2400" b="1" dirty="0" smtClean="0">
                <a:solidFill>
                  <a:srgbClr val="FFD966"/>
                </a:solidFill>
                <a:latin typeface="Calibri Light" panose="020F0302020204030204" pitchFamily="34" charset="0"/>
              </a:rPr>
              <a:t>Mariangel Fernández Pabón</a:t>
            </a:r>
            <a:endParaRPr lang="es-CO" altLang="es-CO" sz="2400" b="1" dirty="0">
              <a:solidFill>
                <a:srgbClr val="FFD966"/>
              </a:solidFill>
              <a:latin typeface="Calibri Light" panose="020F0302020204030204" pitchFamily="34" charset="0"/>
            </a:endParaRPr>
          </a:p>
        </p:txBody>
      </p:sp>
      <p:sp>
        <p:nvSpPr>
          <p:cNvPr id="10" name="Google Shape;27;p1"/>
          <p:cNvSpPr txBox="1"/>
          <p:nvPr/>
        </p:nvSpPr>
        <p:spPr>
          <a:xfrm>
            <a:off x="1397628" y="3879947"/>
            <a:ext cx="6817800" cy="73862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1200"/>
              <a:buFont typeface="Arial"/>
              <a:buNone/>
            </a:pPr>
            <a:r>
              <a:rPr lang="es-ES" sz="1800" b="1" i="0" u="none" strike="noStrike" cap="none" dirty="0">
                <a:solidFill>
                  <a:srgbClr val="FF0000"/>
                </a:solidFill>
                <a:latin typeface="Times New Roman" panose="02020603050405020304" pitchFamily="18" charset="0"/>
                <a:cs typeface="Times New Roman" panose="02020603050405020304" pitchFamily="18" charset="0"/>
                <a:sym typeface="Arial"/>
              </a:rPr>
              <a:t> </a:t>
            </a:r>
            <a:r>
              <a:rPr lang="es-ES" sz="1200" b="1" i="0" u="none" strike="noStrike" cap="none" dirty="0" smtClean="0">
                <a:solidFill>
                  <a:srgbClr val="FFFFFF"/>
                </a:solidFill>
                <a:latin typeface="+mj-lt"/>
                <a:cs typeface="Times New Roman" panose="02020603050405020304" pitchFamily="18" charset="0"/>
                <a:sym typeface="Arial"/>
              </a:rPr>
              <a:t>Institución Educativa</a:t>
            </a:r>
            <a:r>
              <a:rPr lang="es-ES" sz="1200" b="1" dirty="0" smtClean="0">
                <a:solidFill>
                  <a:srgbClr val="FFFFFF"/>
                </a:solidFill>
                <a:latin typeface="+mj-lt"/>
                <a:cs typeface="Times New Roman" panose="02020603050405020304" pitchFamily="18" charset="0"/>
              </a:rPr>
              <a:t> Francisco Antonio Zea</a:t>
            </a:r>
            <a:endParaRPr sz="1200" b="1" i="0" u="none" strike="noStrike" cap="none" dirty="0" smtClean="0">
              <a:solidFill>
                <a:srgbClr val="FF0000"/>
              </a:solidFill>
              <a:latin typeface="+mj-lt"/>
              <a:cs typeface="Times New Roman" panose="02020603050405020304" pitchFamily="18" charset="0"/>
              <a:sym typeface="Arial"/>
            </a:endParaRPr>
          </a:p>
          <a:p>
            <a:pPr marL="0" marR="0" lvl="0" indent="0" algn="ctr" rtl="0">
              <a:lnSpc>
                <a:spcPct val="100000"/>
              </a:lnSpc>
              <a:spcBef>
                <a:spcPts val="0"/>
              </a:spcBef>
              <a:spcAft>
                <a:spcPts val="0"/>
              </a:spcAft>
              <a:buClr>
                <a:srgbClr val="FFFFFF"/>
              </a:buClr>
              <a:buSzPts val="1200"/>
              <a:buFont typeface="Arial"/>
              <a:buNone/>
            </a:pPr>
            <a:r>
              <a:rPr lang="es-ES" sz="1200" b="1" i="0" u="none" strike="noStrike" cap="none" dirty="0" smtClean="0">
                <a:solidFill>
                  <a:srgbClr val="FFFFFF"/>
                </a:solidFill>
                <a:latin typeface="+mj-lt"/>
                <a:cs typeface="Times New Roman" panose="02020603050405020304" pitchFamily="18" charset="0"/>
                <a:sym typeface="Arial"/>
              </a:rPr>
              <a:t>Programa de formación</a:t>
            </a:r>
            <a:r>
              <a:rPr lang="es-ES" sz="1200" b="1" dirty="0" smtClean="0">
                <a:solidFill>
                  <a:srgbClr val="FFFFFF"/>
                </a:solidFill>
                <a:latin typeface="+mj-lt"/>
                <a:cs typeface="Times New Roman" panose="02020603050405020304" pitchFamily="18" charset="0"/>
              </a:rPr>
              <a:t>: Técnico Laboral en Desarrollo de Software</a:t>
            </a:r>
            <a:endParaRPr sz="1200" b="1" i="0" u="none" strike="noStrike" cap="none" dirty="0" smtClean="0">
              <a:solidFill>
                <a:srgbClr val="FF0000"/>
              </a:solidFill>
              <a:latin typeface="+mj-lt"/>
              <a:cs typeface="Times New Roman" panose="02020603050405020304" pitchFamily="18" charset="0"/>
              <a:sym typeface="Arial"/>
            </a:endParaRPr>
          </a:p>
          <a:p>
            <a:pPr marL="0" marR="0" lvl="0" indent="0" algn="ctr" rtl="0">
              <a:lnSpc>
                <a:spcPct val="100000"/>
              </a:lnSpc>
              <a:spcBef>
                <a:spcPts val="0"/>
              </a:spcBef>
              <a:spcAft>
                <a:spcPts val="0"/>
              </a:spcAft>
              <a:buClr>
                <a:srgbClr val="FFFFFF"/>
              </a:buClr>
              <a:buSzPts val="1200"/>
              <a:buFont typeface="Arial"/>
              <a:buNone/>
            </a:pPr>
            <a:r>
              <a:rPr lang="es-ES" sz="1200" b="1" i="0" u="none" strike="noStrike" cap="none" dirty="0" smtClean="0">
                <a:solidFill>
                  <a:srgbClr val="FFFFFF"/>
                </a:solidFill>
                <a:latin typeface="+mj-lt"/>
                <a:cs typeface="Times New Roman" panose="02020603050405020304" pitchFamily="18" charset="0"/>
                <a:sym typeface="Arial"/>
              </a:rPr>
              <a:t>Grado: </a:t>
            </a:r>
            <a:r>
              <a:rPr lang="es-ES" sz="1200" b="1" dirty="0" smtClean="0">
                <a:solidFill>
                  <a:srgbClr val="FFFFFF"/>
                </a:solidFill>
                <a:latin typeface="+mj-lt"/>
                <a:cs typeface="Times New Roman" panose="02020603050405020304" pitchFamily="18" charset="0"/>
              </a:rPr>
              <a:t>11</a:t>
            </a:r>
            <a:r>
              <a:rPr lang="es-ES" sz="1200" b="1" i="0" u="none" strike="noStrike" cap="none" dirty="0" smtClean="0">
                <a:solidFill>
                  <a:srgbClr val="FFFFFF"/>
                </a:solidFill>
                <a:latin typeface="+mj-lt"/>
                <a:cs typeface="Times New Roman" panose="02020603050405020304" pitchFamily="18" charset="0"/>
                <a:sym typeface="Arial"/>
              </a:rPr>
              <a:t>°1</a:t>
            </a:r>
            <a:endParaRPr sz="1200" b="1" i="0" u="none" strike="noStrike" cap="none" dirty="0">
              <a:solidFill>
                <a:srgbClr val="FFFFFF"/>
              </a:solidFill>
              <a:latin typeface="+mj-lt"/>
              <a:cs typeface="Times New Roman" panose="02020603050405020304" pitchFamily="18" charset="0"/>
              <a:sym typeface="Aria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87"/>
        <p:cNvGrpSpPr/>
        <p:nvPr/>
      </p:nvGrpSpPr>
      <p:grpSpPr>
        <a:xfrm>
          <a:off x="0" y="0"/>
          <a:ext cx="0" cy="0"/>
          <a:chOff x="0" y="0"/>
          <a:chExt cx="0" cy="0"/>
        </a:xfrm>
      </p:grpSpPr>
      <p:sp>
        <p:nvSpPr>
          <p:cNvPr id="2" name="Google Shape;94;p2">
            <a:extLst>
              <a:ext uri="{FF2B5EF4-FFF2-40B4-BE49-F238E27FC236}">
                <a16:creationId xmlns:a16="http://schemas.microsoft.com/office/drawing/2014/main" id="{E21A2A5D-0176-E205-C836-7C6BC73F3E26}"/>
              </a:ext>
            </a:extLst>
          </p:cNvPr>
          <p:cNvSpPr txBox="1"/>
          <p:nvPr/>
        </p:nvSpPr>
        <p:spPr>
          <a:xfrm>
            <a:off x="3825657" y="3294894"/>
            <a:ext cx="4832569" cy="15696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0" i="0" u="none" strike="noStrike" cap="none" dirty="0">
                <a:solidFill>
                  <a:schemeClr val="lt1"/>
                </a:solidFill>
                <a:latin typeface="Calibri"/>
                <a:ea typeface="Calibri"/>
                <a:cs typeface="Calibri"/>
                <a:sym typeface="Calibri"/>
              </a:rPr>
              <a:t>PRESENTACIÓN DE PROPUESTA P</a:t>
            </a:r>
            <a:r>
              <a:rPr lang="en-US" sz="3200" dirty="0">
                <a:solidFill>
                  <a:schemeClr val="lt1"/>
                </a:solidFill>
                <a:latin typeface="Calibri"/>
                <a:ea typeface="Calibri"/>
                <a:cs typeface="Calibri"/>
                <a:sym typeface="Calibri"/>
              </a:rPr>
              <a:t>ROYECTO INTEGRADOR DE AULA -PIA-</a:t>
            </a:r>
            <a:endParaRPr sz="3200" b="0" i="0" u="none" strike="noStrike" cap="none" dirty="0">
              <a:solidFill>
                <a:schemeClr val="lt1"/>
              </a:solidFill>
              <a:latin typeface="Calibri"/>
              <a:ea typeface="Calibri"/>
              <a:cs typeface="Calibri"/>
              <a:sym typeface="Calibri"/>
            </a:endParaRPr>
          </a:p>
        </p:txBody>
      </p:sp>
      <p:pic>
        <p:nvPicPr>
          <p:cNvPr id="3" name="image3.jpg">
            <a:extLst>
              <a:ext uri="{FF2B5EF4-FFF2-40B4-BE49-F238E27FC236}">
                <a16:creationId xmlns:a16="http://schemas.microsoft.com/office/drawing/2014/main" id="{ABF071AA-8CB0-D6F7-FE56-495288F771E7}"/>
              </a:ext>
            </a:extLst>
          </p:cNvPr>
          <p:cNvPicPr/>
          <p:nvPr/>
        </p:nvPicPr>
        <p:blipFill rotWithShape="1">
          <a:blip r:embed="rId4"/>
          <a:srcRect l="75951" t="14425" b="17892"/>
          <a:stretch/>
        </p:blipFill>
        <p:spPr bwMode="auto">
          <a:xfrm>
            <a:off x="4851921" y="968912"/>
            <a:ext cx="3085319" cy="1569620"/>
          </a:xfrm>
          <a:prstGeom prst="rect">
            <a:avLst/>
          </a:prstGeom>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4">
            <a:alphaModFix/>
          </a:blip>
          <a:srcRect/>
          <a:stretch/>
        </p:blipFill>
        <p:spPr>
          <a:xfrm>
            <a:off x="-302575" y="4522413"/>
            <a:ext cx="912176" cy="910874"/>
          </a:xfrm>
          <a:prstGeom prst="rect">
            <a:avLst/>
          </a:prstGeom>
          <a:noFill/>
          <a:ln>
            <a:noFill/>
          </a:ln>
        </p:spPr>
      </p:pic>
      <p:sp>
        <p:nvSpPr>
          <p:cNvPr id="494" name="Google Shape;494;p15"/>
          <p:cNvSpPr txBox="1"/>
          <p:nvPr/>
        </p:nvSpPr>
        <p:spPr>
          <a:xfrm>
            <a:off x="1479950" y="984325"/>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 sz="3400" dirty="0">
                <a:solidFill>
                  <a:srgbClr val="015583"/>
                </a:solidFill>
                <a:latin typeface="Calibri"/>
                <a:ea typeface="Calibri"/>
                <a:cs typeface="Calibri"/>
                <a:sym typeface="Calibri"/>
              </a:rPr>
              <a:t>PROBLEMA O </a:t>
            </a:r>
            <a:r>
              <a:rPr lang="es" sz="3400" b="1" dirty="0">
                <a:solidFill>
                  <a:srgbClr val="015583"/>
                </a:solidFill>
                <a:latin typeface="Calibri"/>
                <a:ea typeface="Calibri"/>
                <a:cs typeface="Calibri"/>
                <a:sym typeface="Calibri"/>
              </a:rPr>
              <a:t>NECESIDAD</a:t>
            </a:r>
            <a:endParaRPr sz="3400" b="1" i="0" u="none" strike="noStrike" cap="none" dirty="0">
              <a:solidFill>
                <a:srgbClr val="015583"/>
              </a:solidFill>
              <a:latin typeface="Calibri"/>
              <a:ea typeface="Calibri"/>
              <a:cs typeface="Calibri"/>
              <a:sym typeface="Calibri"/>
            </a:endParaRPr>
          </a:p>
        </p:txBody>
      </p:sp>
      <p:pic>
        <p:nvPicPr>
          <p:cNvPr id="496" name="Google Shape;496;p15"/>
          <p:cNvPicPr preferRelativeResize="0"/>
          <p:nvPr/>
        </p:nvPicPr>
        <p:blipFill rotWithShape="1">
          <a:blip r:embed="rId5">
            <a:alphaModFix/>
          </a:blip>
          <a:srcRect/>
          <a:stretch/>
        </p:blipFill>
        <p:spPr>
          <a:xfrm>
            <a:off x="7937150" y="4654475"/>
            <a:ext cx="860705" cy="133450"/>
          </a:xfrm>
          <a:prstGeom prst="rect">
            <a:avLst/>
          </a:prstGeom>
          <a:noFill/>
          <a:ln>
            <a:noFill/>
          </a:ln>
        </p:spPr>
      </p:pic>
      <p:sp>
        <p:nvSpPr>
          <p:cNvPr id="4" name="Google Shape;110;p5">
            <a:extLst>
              <a:ext uri="{FF2B5EF4-FFF2-40B4-BE49-F238E27FC236}">
                <a16:creationId xmlns:a16="http://schemas.microsoft.com/office/drawing/2014/main" id="{A8AE2FB6-62B4-5F75-4F30-1315B9E10AC6}"/>
              </a:ext>
            </a:extLst>
          </p:cNvPr>
          <p:cNvSpPr txBox="1"/>
          <p:nvPr/>
        </p:nvSpPr>
        <p:spPr>
          <a:xfrm>
            <a:off x="1044666" y="1940597"/>
            <a:ext cx="7054667" cy="2308284"/>
          </a:xfrm>
          <a:prstGeom prst="rect">
            <a:avLst/>
          </a:prstGeom>
          <a:noFill/>
          <a:ln>
            <a:noFill/>
          </a:ln>
        </p:spPr>
        <p:txBody>
          <a:bodyPr spcFirstLastPara="1" wrap="square" lIns="91425" tIns="45700" rIns="91425" bIns="45700" anchor="t" anchorCtr="0">
            <a:spAutoFit/>
          </a:bodyPr>
          <a:lstStyle/>
          <a:p>
            <a:pPr algn="just"/>
            <a:r>
              <a:rPr lang="es-MX" sz="1800" dirty="0"/>
              <a:t>En la Institución educativa francisco Antonio Zea, el exceso de ruido durante clases, descansos y cambios de hora se ha convertido en un problema constante que afecta la concentración, el rendimiento académico y la convivencia entre los estudiantes. Esta situación está relacionada con la contaminación acústica, una forma de polución ambiental que puede alterar el bienestar, generar estrés y dificultar los procesos de aprendizaje.</a:t>
            </a:r>
            <a:endParaRPr lang="en-US" sz="1800" dirty="0"/>
          </a:p>
          <a:p>
            <a:pPr marL="0" marR="0" lvl="0" indent="0" algn="just"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pic>
        <p:nvPicPr>
          <p:cNvPr id="2" name="image3.jpg">
            <a:extLst>
              <a:ext uri="{FF2B5EF4-FFF2-40B4-BE49-F238E27FC236}">
                <a16:creationId xmlns:a16="http://schemas.microsoft.com/office/drawing/2014/main" id="{2914684C-8741-0C88-7AE6-1B5B34A05FF0}"/>
              </a:ext>
            </a:extLst>
          </p:cNvPr>
          <p:cNvPicPr/>
          <p:nvPr/>
        </p:nvPicPr>
        <p:blipFill rotWithShape="1">
          <a:blip r:embed="rId6"/>
          <a:srcRect l="75951" t="14425" b="17892"/>
          <a:stretch/>
        </p:blipFill>
        <p:spPr bwMode="auto">
          <a:xfrm>
            <a:off x="7601337" y="75657"/>
            <a:ext cx="1331171" cy="714335"/>
          </a:xfrm>
          <a:prstGeom prst="rect">
            <a:avLst/>
          </a:prstGeom>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00"/>
        <p:cNvGrpSpPr/>
        <p:nvPr/>
      </p:nvGrpSpPr>
      <p:grpSpPr>
        <a:xfrm>
          <a:off x="0" y="0"/>
          <a:ext cx="0" cy="0"/>
          <a:chOff x="0" y="0"/>
          <a:chExt cx="0" cy="0"/>
        </a:xfrm>
      </p:grpSpPr>
      <p:sp>
        <p:nvSpPr>
          <p:cNvPr id="501" name="Google Shape;501;p16"/>
          <p:cNvSpPr/>
          <p:nvPr/>
        </p:nvSpPr>
        <p:spPr>
          <a:xfrm>
            <a:off x="4841736" y="2958005"/>
            <a:ext cx="1403700" cy="1403700"/>
          </a:xfrm>
          <a:prstGeom prst="ellipse">
            <a:avLst/>
          </a:prstGeom>
          <a:solidFill>
            <a:srgbClr val="01B3C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3" name="Google Shape;503;p16"/>
          <p:cNvPicPr preferRelativeResize="0"/>
          <p:nvPr/>
        </p:nvPicPr>
        <p:blipFill rotWithShape="1">
          <a:blip r:embed="rId4">
            <a:alphaModFix/>
          </a:blip>
          <a:srcRect/>
          <a:stretch/>
        </p:blipFill>
        <p:spPr>
          <a:xfrm>
            <a:off x="7524925" y="1055400"/>
            <a:ext cx="1293851" cy="1292000"/>
          </a:xfrm>
          <a:prstGeom prst="rect">
            <a:avLst/>
          </a:prstGeom>
          <a:noFill/>
          <a:ln>
            <a:noFill/>
          </a:ln>
        </p:spPr>
      </p:pic>
      <p:pic>
        <p:nvPicPr>
          <p:cNvPr id="504" name="Google Shape;504;p16"/>
          <p:cNvPicPr preferRelativeResize="0"/>
          <p:nvPr/>
        </p:nvPicPr>
        <p:blipFill rotWithShape="1">
          <a:blip r:embed="rId5">
            <a:alphaModFix/>
          </a:blip>
          <a:srcRect/>
          <a:stretch/>
        </p:blipFill>
        <p:spPr>
          <a:xfrm>
            <a:off x="7044150" y="3924100"/>
            <a:ext cx="696725" cy="133450"/>
          </a:xfrm>
          <a:prstGeom prst="rect">
            <a:avLst/>
          </a:prstGeom>
          <a:noFill/>
          <a:ln>
            <a:noFill/>
          </a:ln>
        </p:spPr>
      </p:pic>
      <p:sp>
        <p:nvSpPr>
          <p:cNvPr id="505" name="Google Shape;505;p16"/>
          <p:cNvSpPr txBox="1"/>
          <p:nvPr/>
        </p:nvSpPr>
        <p:spPr>
          <a:xfrm>
            <a:off x="554950" y="709443"/>
            <a:ext cx="3810000" cy="1442100"/>
          </a:xfrm>
          <a:prstGeom prst="rect">
            <a:avLst/>
          </a:prstGeom>
          <a:noFill/>
          <a:ln>
            <a:noFill/>
          </a:ln>
        </p:spPr>
        <p:txBody>
          <a:bodyPr spcFirstLastPara="1" wrap="square" lIns="91425" tIns="91425" rIns="91425" bIns="91425" anchor="b" anchorCtr="0">
            <a:noAutofit/>
          </a:bodyPr>
          <a:lstStyle/>
          <a:p>
            <a:pPr marL="0" marR="0" lvl="0" indent="0" algn="l" rtl="0">
              <a:lnSpc>
                <a:spcPct val="80000"/>
              </a:lnSpc>
              <a:spcBef>
                <a:spcPts val="0"/>
              </a:spcBef>
              <a:spcAft>
                <a:spcPts val="0"/>
              </a:spcAft>
              <a:buClr>
                <a:srgbClr val="000000"/>
              </a:buClr>
              <a:buSzPts val="3800"/>
              <a:buFont typeface="Arial"/>
              <a:buNone/>
            </a:pPr>
            <a:r>
              <a:rPr lang="es-ES" sz="3400" b="0" i="0" u="none" strike="noStrike" cap="none" dirty="0">
                <a:solidFill>
                  <a:srgbClr val="015583"/>
                </a:solidFill>
                <a:latin typeface="Calibri"/>
                <a:ea typeface="Calibri"/>
                <a:cs typeface="Calibri"/>
                <a:sym typeface="Calibri"/>
              </a:rPr>
              <a:t>MARCO TEÓRICO Y ESTADO </a:t>
            </a:r>
            <a:r>
              <a:rPr lang="es-ES" sz="3400" b="1" i="0" u="none" strike="noStrike" cap="none" dirty="0">
                <a:solidFill>
                  <a:srgbClr val="015583"/>
                </a:solidFill>
                <a:latin typeface="Calibri"/>
                <a:ea typeface="Calibri"/>
                <a:cs typeface="Calibri"/>
                <a:sym typeface="Calibri"/>
              </a:rPr>
              <a:t>Y ESTADO DEL ARTE</a:t>
            </a:r>
          </a:p>
        </p:txBody>
      </p:sp>
      <p:cxnSp>
        <p:nvCxnSpPr>
          <p:cNvPr id="506" name="Google Shape;506;p16"/>
          <p:cNvCxnSpPr/>
          <p:nvPr/>
        </p:nvCxnSpPr>
        <p:spPr>
          <a:xfrm>
            <a:off x="606227" y="2151543"/>
            <a:ext cx="3701141" cy="0"/>
          </a:xfrm>
          <a:prstGeom prst="straightConnector1">
            <a:avLst/>
          </a:prstGeom>
          <a:noFill/>
          <a:ln w="9525" cap="flat" cmpd="sng">
            <a:solidFill>
              <a:srgbClr val="01B3C2"/>
            </a:solidFill>
            <a:prstDash val="solid"/>
            <a:round/>
            <a:headEnd type="none" w="sm" len="sm"/>
            <a:tailEnd type="oval" w="med" len="med"/>
          </a:ln>
        </p:spPr>
      </p:cxnSp>
      <p:sp>
        <p:nvSpPr>
          <p:cNvPr id="507" name="Google Shape;507;p16"/>
          <p:cNvSpPr txBox="1"/>
          <p:nvPr/>
        </p:nvSpPr>
        <p:spPr>
          <a:xfrm>
            <a:off x="606227" y="3254600"/>
            <a:ext cx="3981475" cy="1605900"/>
          </a:xfrm>
          <a:prstGeom prst="rect">
            <a:avLst/>
          </a:prstGeom>
          <a:noFill/>
          <a:ln>
            <a:noFill/>
          </a:ln>
        </p:spPr>
        <p:txBody>
          <a:bodyPr spcFirstLastPara="1" wrap="square" lIns="91425" tIns="91425" rIns="91425" bIns="91425" anchor="b" anchorCtr="0">
            <a:noAutofit/>
          </a:bodyPr>
          <a:lstStyle/>
          <a:p>
            <a:pPr lvl="0" algn="just">
              <a:buSzPts val="1800"/>
            </a:pPr>
            <a:r>
              <a:rPr lang="es-MX" sz="1800" dirty="0">
                <a:latin typeface="+mn-lt"/>
              </a:rPr>
              <a:t>El silencio, lejos de ser un simple vacío o la ausencia de sonido, es un fenómeno </a:t>
            </a:r>
            <a:r>
              <a:rPr lang="es-MX" sz="1800" dirty="0">
                <a:latin typeface="+mn-lt"/>
                <a:cs typeface="Calibri" panose="020F0502020204030204" pitchFamily="34" charset="0"/>
              </a:rPr>
              <a:t>complejo</a:t>
            </a:r>
            <a:r>
              <a:rPr lang="es-MX" sz="1800" dirty="0">
                <a:latin typeface="+mn-lt"/>
              </a:rPr>
              <a:t> con múltiples abordajes: desde una herramienta terapéutica y de comunicación profunda, hasta un espacio de reflexión personal o una manifestación de contención emocional</a:t>
            </a:r>
            <a:r>
              <a:rPr lang="es-MX" sz="1800" dirty="0" smtClean="0">
                <a:latin typeface="+mn-lt"/>
              </a:rPr>
              <a:t>.</a:t>
            </a:r>
            <a:endParaRPr lang="es-ES" sz="1800" b="0" i="0" u="none" strike="noStrike" cap="none" dirty="0">
              <a:solidFill>
                <a:srgbClr val="FF0000"/>
              </a:solidFill>
              <a:latin typeface="+mn-lt"/>
              <a:ea typeface="Calibri"/>
              <a:cs typeface="Calibri"/>
              <a:sym typeface="Calibri"/>
            </a:endParaRPr>
          </a:p>
        </p:txBody>
      </p:sp>
      <p:pic>
        <p:nvPicPr>
          <p:cNvPr id="2" name="image3.jpg">
            <a:extLst>
              <a:ext uri="{FF2B5EF4-FFF2-40B4-BE49-F238E27FC236}">
                <a16:creationId xmlns:a16="http://schemas.microsoft.com/office/drawing/2014/main" id="{164BFC53-E411-163F-D7D2-ED799F8F0811}"/>
              </a:ext>
            </a:extLst>
          </p:cNvPr>
          <p:cNvPicPr/>
          <p:nvPr/>
        </p:nvPicPr>
        <p:blipFill rotWithShape="1">
          <a:blip r:embed="rId6"/>
          <a:srcRect l="75951" t="14425" b="17892"/>
          <a:stretch/>
        </p:blipFill>
        <p:spPr bwMode="auto">
          <a:xfrm>
            <a:off x="7601337" y="75657"/>
            <a:ext cx="1331171" cy="714335"/>
          </a:xfrm>
          <a:prstGeom prst="rect">
            <a:avLst/>
          </a:prstGeom>
          <a:ln>
            <a:noFill/>
          </a:ln>
          <a:extLst>
            <a:ext uri="{53640926-AAD7-44D8-BBD7-CCE9431645EC}">
              <a14:shadowObscured xmlns:a14="http://schemas.microsoft.com/office/drawing/2010/main"/>
            </a:ext>
          </a:extLst>
        </p:spPr>
      </p:pic>
      <p:pic>
        <p:nvPicPr>
          <p:cNvPr id="3" name="Imagen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16142" y="-283000"/>
            <a:ext cx="3856016" cy="51435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429942" y="398057"/>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CO" sz="3400" dirty="0">
                <a:solidFill>
                  <a:srgbClr val="015583"/>
                </a:solidFill>
                <a:latin typeface="Calibri"/>
                <a:ea typeface="Calibri"/>
                <a:cs typeface="Calibri"/>
                <a:sym typeface="Calibri"/>
              </a:rPr>
              <a:t>OBJETIVOS D</a:t>
            </a:r>
            <a:r>
              <a:rPr lang="es-CO" sz="3400" b="1" dirty="0">
                <a:solidFill>
                  <a:srgbClr val="015583"/>
                </a:solidFill>
                <a:latin typeface="Calibri"/>
                <a:ea typeface="Calibri"/>
                <a:cs typeface="Calibri"/>
                <a:sym typeface="Calibri"/>
              </a:rPr>
              <a:t>EL PROYECTO</a:t>
            </a: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pic>
        <p:nvPicPr>
          <p:cNvPr id="2" name="image3.jpg">
            <a:extLst>
              <a:ext uri="{FF2B5EF4-FFF2-40B4-BE49-F238E27FC236}">
                <a16:creationId xmlns:a16="http://schemas.microsoft.com/office/drawing/2014/main" id="{D4A1449B-7FD9-EC6B-8AE0-5738E142903C}"/>
              </a:ext>
            </a:extLst>
          </p:cNvPr>
          <p:cNvPicPr/>
          <p:nvPr/>
        </p:nvPicPr>
        <p:blipFill rotWithShape="1">
          <a:blip r:embed="rId5"/>
          <a:srcRect l="75951" t="14425" b="17892"/>
          <a:stretch/>
        </p:blipFill>
        <p:spPr bwMode="auto">
          <a:xfrm>
            <a:off x="7601337" y="75657"/>
            <a:ext cx="1331171" cy="714335"/>
          </a:xfrm>
          <a:prstGeom prst="rect">
            <a:avLst/>
          </a:prstGeom>
          <a:ln>
            <a:noFill/>
          </a:ln>
          <a:extLst>
            <a:ext uri="{53640926-AAD7-44D8-BBD7-CCE9431645EC}">
              <a14:shadowObscured xmlns:a14="http://schemas.microsoft.com/office/drawing/2010/main"/>
            </a:ext>
          </a:extLst>
        </p:spPr>
      </p:pic>
      <p:sp>
        <p:nvSpPr>
          <p:cNvPr id="7" name="Google Shape;59;p5"/>
          <p:cNvSpPr txBox="1"/>
          <p:nvPr/>
        </p:nvSpPr>
        <p:spPr>
          <a:xfrm>
            <a:off x="1120834" y="1626117"/>
            <a:ext cx="6816316" cy="268787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s-ES" sz="1800" b="1" i="0" u="none" strike="noStrike" cap="none" dirty="0">
                <a:solidFill>
                  <a:schemeClr val="accent2"/>
                </a:solidFill>
                <a:latin typeface="+mn-lt"/>
                <a:ea typeface="Arial Narrow"/>
                <a:cs typeface="Calibri" panose="020F0502020204030204" pitchFamily="34" charset="0"/>
                <a:sym typeface="Arial Narrow"/>
              </a:rPr>
              <a:t>OBJETIVO GENERAL </a:t>
            </a:r>
            <a:endParaRPr lang="es-ES" sz="1800" b="1" i="0" u="none" strike="noStrike" cap="none" dirty="0" smtClean="0">
              <a:solidFill>
                <a:schemeClr val="accent2"/>
              </a:solidFill>
              <a:latin typeface="+mn-lt"/>
              <a:ea typeface="Arial Narrow"/>
              <a:cs typeface="Calibri" panose="020F0502020204030204" pitchFamily="34" charset="0"/>
              <a:sym typeface="Arial Narrow"/>
            </a:endParaRPr>
          </a:p>
          <a:p>
            <a:pPr marL="0" marR="0" lvl="0" indent="0" algn="just" rtl="0">
              <a:lnSpc>
                <a:spcPct val="100000"/>
              </a:lnSpc>
              <a:spcBef>
                <a:spcPts val="0"/>
              </a:spcBef>
              <a:spcAft>
                <a:spcPts val="0"/>
              </a:spcAft>
              <a:buClr>
                <a:srgbClr val="000000"/>
              </a:buClr>
              <a:buSzPts val="1600"/>
              <a:buFont typeface="Arial"/>
              <a:buNone/>
            </a:pPr>
            <a:endParaRPr sz="1800" b="1" i="0" u="none" strike="noStrike" cap="none" dirty="0">
              <a:solidFill>
                <a:schemeClr val="accent2"/>
              </a:solidFill>
              <a:latin typeface="+mn-lt"/>
              <a:ea typeface="Arial Narrow"/>
              <a:cs typeface="Calibri" panose="020F0502020204030204" pitchFamily="34" charset="0"/>
              <a:sym typeface="Arial Narrow"/>
            </a:endParaRPr>
          </a:p>
          <a:p>
            <a:pPr algn="just"/>
            <a:r>
              <a:rPr lang="es-CO" sz="1800" dirty="0">
                <a:latin typeface="+mn-lt"/>
                <a:cs typeface="Calibri" panose="020F0502020204030204" pitchFamily="34" charset="0"/>
              </a:rPr>
              <a:t>Desarrollar un proyecto estudiantil basado en una aplicación interactiva y colectiva que permita medir, analizar y transformar el nivel de ruido en el entorno escolar en tiempo real, utilizando herramientas tipo decibelímetro y recursos visuales dinámicos, con el fin de promover la autorregulación, mejorar la convivencia y contribuir a un ambiente académico adecuado.</a:t>
            </a:r>
            <a:endParaRPr lang="en-US" sz="1800" dirty="0">
              <a:latin typeface="+mn-lt"/>
              <a:cs typeface="Calibri" panose="020F0502020204030204" pitchFamily="34" charset="0"/>
            </a:endParaRPr>
          </a:p>
          <a:p>
            <a:pPr marL="0" marR="0" lvl="0" indent="0" algn="just" rtl="0">
              <a:lnSpc>
                <a:spcPct val="100000"/>
              </a:lnSpc>
              <a:spcBef>
                <a:spcPts val="800"/>
              </a:spcBef>
              <a:spcAft>
                <a:spcPts val="0"/>
              </a:spcAft>
              <a:buClr>
                <a:srgbClr val="000000"/>
              </a:buClr>
              <a:buSzPts val="1600"/>
              <a:buFont typeface="Arial"/>
              <a:buNone/>
            </a:pPr>
            <a:endParaRPr sz="1800" b="1" dirty="0">
              <a:solidFill>
                <a:schemeClr val="accent2"/>
              </a:solidFill>
              <a:latin typeface="+mn-lt"/>
              <a:ea typeface="Arial Narrow"/>
              <a:cs typeface="Calibri" panose="020F0502020204030204" pitchFamily="34" charset="0"/>
              <a:sym typeface="Arial Narrow"/>
            </a:endParaRPr>
          </a:p>
        </p:txBody>
      </p:sp>
    </p:spTree>
    <p:extLst>
      <p:ext uri="{BB962C8B-B14F-4D97-AF65-F5344CB8AC3E}">
        <p14:creationId xmlns:p14="http://schemas.microsoft.com/office/powerpoint/2010/main" val="21841277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429942" y="398057"/>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CO" sz="3400" dirty="0">
                <a:solidFill>
                  <a:srgbClr val="015583"/>
                </a:solidFill>
                <a:latin typeface="Calibri"/>
                <a:ea typeface="Calibri"/>
                <a:cs typeface="Calibri"/>
                <a:sym typeface="Calibri"/>
              </a:rPr>
              <a:t>OBJETIVOS D</a:t>
            </a:r>
            <a:r>
              <a:rPr lang="es-CO" sz="3400" b="1" dirty="0">
                <a:solidFill>
                  <a:srgbClr val="015583"/>
                </a:solidFill>
                <a:latin typeface="Calibri"/>
                <a:ea typeface="Calibri"/>
                <a:cs typeface="Calibri"/>
                <a:sym typeface="Calibri"/>
              </a:rPr>
              <a:t>EL PROYECTO</a:t>
            </a: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pic>
        <p:nvPicPr>
          <p:cNvPr id="2" name="image3.jpg">
            <a:extLst>
              <a:ext uri="{FF2B5EF4-FFF2-40B4-BE49-F238E27FC236}">
                <a16:creationId xmlns:a16="http://schemas.microsoft.com/office/drawing/2014/main" id="{D4A1449B-7FD9-EC6B-8AE0-5738E142903C}"/>
              </a:ext>
            </a:extLst>
          </p:cNvPr>
          <p:cNvPicPr/>
          <p:nvPr/>
        </p:nvPicPr>
        <p:blipFill rotWithShape="1">
          <a:blip r:embed="rId5"/>
          <a:srcRect l="75951" t="14425" b="17892"/>
          <a:stretch/>
        </p:blipFill>
        <p:spPr bwMode="auto">
          <a:xfrm>
            <a:off x="7601337" y="75657"/>
            <a:ext cx="1331171" cy="714335"/>
          </a:xfrm>
          <a:prstGeom prst="rect">
            <a:avLst/>
          </a:prstGeom>
          <a:ln>
            <a:noFill/>
          </a:ln>
          <a:extLst>
            <a:ext uri="{53640926-AAD7-44D8-BBD7-CCE9431645EC}">
              <a14:shadowObscured xmlns:a14="http://schemas.microsoft.com/office/drawing/2010/main"/>
            </a:ext>
          </a:extLst>
        </p:spPr>
      </p:pic>
      <p:sp>
        <p:nvSpPr>
          <p:cNvPr id="7" name="Google Shape;59;p5"/>
          <p:cNvSpPr txBox="1"/>
          <p:nvPr/>
        </p:nvSpPr>
        <p:spPr>
          <a:xfrm>
            <a:off x="153513" y="1114196"/>
            <a:ext cx="8932508" cy="4319091"/>
          </a:xfrm>
          <a:prstGeom prst="rect">
            <a:avLst/>
          </a:prstGeom>
          <a:noFill/>
          <a:ln>
            <a:noFill/>
          </a:ln>
        </p:spPr>
        <p:txBody>
          <a:bodyPr spcFirstLastPara="1" wrap="square" lIns="91425" tIns="45700" rIns="91425" bIns="45700" anchor="t" anchorCtr="0">
            <a:spAutoFit/>
          </a:bodyPr>
          <a:lstStyle/>
          <a:p>
            <a:pPr lvl="1"/>
            <a:r>
              <a:rPr lang="es-CO" sz="1800" b="1" dirty="0" smtClean="0">
                <a:latin typeface="+mn-lt"/>
                <a:cs typeface="Calibri" panose="020F0502020204030204" pitchFamily="34" charset="0"/>
              </a:rPr>
              <a:t>OBJETIVOS ESPECÍFICOS</a:t>
            </a:r>
          </a:p>
          <a:p>
            <a:pPr lvl="1"/>
            <a:endParaRPr lang="en-US" sz="1800" dirty="0" smtClean="0">
              <a:latin typeface="+mn-lt"/>
              <a:cs typeface="Calibri" panose="020F0502020204030204" pitchFamily="34" charset="0"/>
            </a:endParaRPr>
          </a:p>
          <a:p>
            <a:pPr marL="285750" lvl="0" indent="-285750" algn="just">
              <a:buFont typeface="Arial" panose="020B0604020202020204" pitchFamily="34" charset="0"/>
              <a:buChar char="•"/>
            </a:pPr>
            <a:r>
              <a:rPr lang="es-MX" sz="1800" dirty="0" smtClean="0">
                <a:latin typeface="+mn-lt"/>
                <a:cs typeface="Calibri" panose="020F0502020204030204" pitchFamily="34" charset="0"/>
              </a:rPr>
              <a:t>Analizar </a:t>
            </a:r>
            <a:r>
              <a:rPr lang="es-MX" sz="1800" dirty="0">
                <a:latin typeface="+mn-lt"/>
                <a:cs typeface="Calibri" panose="020F0502020204030204" pitchFamily="34" charset="0"/>
              </a:rPr>
              <a:t>las necesidades del entorno escolar para identificar las principales problemáticas relacionadas con la contaminación auditiva dentro del colegio y definir los requerimientos funcionales y no funcionales del sistema. </a:t>
            </a:r>
            <a:endParaRPr lang="en-US" sz="1800" dirty="0">
              <a:latin typeface="+mn-lt"/>
              <a:cs typeface="Calibri" panose="020F0502020204030204" pitchFamily="34" charset="0"/>
            </a:endParaRPr>
          </a:p>
          <a:p>
            <a:r>
              <a:rPr lang="es-MX" sz="1800" dirty="0">
                <a:latin typeface="+mn-lt"/>
                <a:cs typeface="Calibri" panose="020F0502020204030204" pitchFamily="34" charset="0"/>
              </a:rPr>
              <a:t> </a:t>
            </a:r>
            <a:endParaRPr lang="en-US" sz="1800" dirty="0">
              <a:latin typeface="+mn-lt"/>
              <a:cs typeface="Calibri" panose="020F0502020204030204" pitchFamily="34" charset="0"/>
            </a:endParaRPr>
          </a:p>
          <a:p>
            <a:pPr marL="285750" lvl="0" indent="-285750">
              <a:buFont typeface="Arial" panose="020B0604020202020204" pitchFamily="34" charset="0"/>
              <a:buChar char="•"/>
            </a:pPr>
            <a:r>
              <a:rPr lang="es-MX" sz="1800" dirty="0">
                <a:latin typeface="+mn-lt"/>
                <a:cs typeface="Calibri" panose="020F0502020204030204" pitchFamily="34" charset="0"/>
              </a:rPr>
              <a:t>Diseñar la arquitectura y la interfaz del software, creando un entorno visual intuitivo que permita al docente seleccionar grupos, tiempos de medición y visualizar los niveles de ruido en tiempo real. </a:t>
            </a:r>
            <a:endParaRPr lang="en-US" sz="1800" dirty="0">
              <a:latin typeface="+mn-lt"/>
              <a:cs typeface="Calibri" panose="020F0502020204030204" pitchFamily="34" charset="0"/>
            </a:endParaRPr>
          </a:p>
          <a:p>
            <a:r>
              <a:rPr lang="es-MX" sz="1800" dirty="0">
                <a:latin typeface="+mn-lt"/>
                <a:cs typeface="Calibri" panose="020F0502020204030204" pitchFamily="34" charset="0"/>
              </a:rPr>
              <a:t> </a:t>
            </a:r>
            <a:endParaRPr lang="en-US" sz="1800" dirty="0">
              <a:latin typeface="+mn-lt"/>
              <a:cs typeface="Calibri" panose="020F0502020204030204" pitchFamily="34" charset="0"/>
            </a:endParaRPr>
          </a:p>
          <a:p>
            <a:pPr marL="285750" lvl="0" indent="-285750">
              <a:buFont typeface="Arial" panose="020B0604020202020204" pitchFamily="34" charset="0"/>
              <a:buChar char="•"/>
            </a:pPr>
            <a:r>
              <a:rPr lang="es-MX" sz="1800" dirty="0">
                <a:latin typeface="+mn-lt"/>
                <a:cs typeface="Calibri" panose="020F0502020204030204" pitchFamily="34" charset="0"/>
              </a:rPr>
              <a:t>Desarrollar un sistema de medición sonora utilizando aplicaciones móviles y el micrófono del dispositivo para capturar, registrar y procesar los niveles de sonido del ambiente escolar. </a:t>
            </a:r>
            <a:endParaRPr lang="en-US" sz="1800" dirty="0">
              <a:latin typeface="+mn-lt"/>
              <a:cs typeface="Calibri" panose="020F0502020204030204" pitchFamily="34" charset="0"/>
            </a:endParaRPr>
          </a:p>
          <a:p>
            <a:r>
              <a:rPr lang="es-MX" sz="1800" dirty="0">
                <a:latin typeface="+mn-lt"/>
                <a:cs typeface="Calibri" panose="020F0502020204030204" pitchFamily="34" charset="0"/>
              </a:rPr>
              <a:t> </a:t>
            </a:r>
            <a:endParaRPr lang="en-US" sz="1800" dirty="0">
              <a:latin typeface="+mn-lt"/>
              <a:cs typeface="Calibri" panose="020F0502020204030204" pitchFamily="34" charset="0"/>
            </a:endParaRPr>
          </a:p>
          <a:p>
            <a:pPr marL="0" marR="0" lvl="0" indent="0" rtl="0">
              <a:lnSpc>
                <a:spcPct val="100000"/>
              </a:lnSpc>
              <a:spcBef>
                <a:spcPts val="800"/>
              </a:spcBef>
              <a:spcAft>
                <a:spcPts val="0"/>
              </a:spcAft>
              <a:buClr>
                <a:srgbClr val="000000"/>
              </a:buClr>
              <a:buSzPts val="1600"/>
              <a:buFont typeface="Arial"/>
              <a:buNone/>
            </a:pPr>
            <a:endParaRPr sz="1600" b="1" dirty="0">
              <a:solidFill>
                <a:schemeClr val="accent2"/>
              </a:solidFill>
              <a:latin typeface="+mn-lt"/>
              <a:ea typeface="Arial Narrow"/>
              <a:cs typeface="Calibri" panose="020F0502020204030204" pitchFamily="34" charset="0"/>
              <a:sym typeface="Arial Narrow"/>
            </a:endParaRPr>
          </a:p>
        </p:txBody>
      </p:sp>
    </p:spTree>
    <p:extLst>
      <p:ext uri="{BB962C8B-B14F-4D97-AF65-F5344CB8AC3E}">
        <p14:creationId xmlns:p14="http://schemas.microsoft.com/office/powerpoint/2010/main" val="11269302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429942" y="398057"/>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CO" sz="3400" dirty="0">
                <a:solidFill>
                  <a:srgbClr val="015583"/>
                </a:solidFill>
                <a:latin typeface="Calibri"/>
                <a:ea typeface="Calibri"/>
                <a:cs typeface="Calibri"/>
                <a:sym typeface="Calibri"/>
              </a:rPr>
              <a:t>OBJETIVOS D</a:t>
            </a:r>
            <a:r>
              <a:rPr lang="es-CO" sz="3400" b="1" dirty="0">
                <a:solidFill>
                  <a:srgbClr val="015583"/>
                </a:solidFill>
                <a:latin typeface="Calibri"/>
                <a:ea typeface="Calibri"/>
                <a:cs typeface="Calibri"/>
                <a:sym typeface="Calibri"/>
              </a:rPr>
              <a:t>EL PROYECTO</a:t>
            </a: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pic>
        <p:nvPicPr>
          <p:cNvPr id="2" name="image3.jpg">
            <a:extLst>
              <a:ext uri="{FF2B5EF4-FFF2-40B4-BE49-F238E27FC236}">
                <a16:creationId xmlns:a16="http://schemas.microsoft.com/office/drawing/2014/main" id="{D4A1449B-7FD9-EC6B-8AE0-5738E142903C}"/>
              </a:ext>
            </a:extLst>
          </p:cNvPr>
          <p:cNvPicPr/>
          <p:nvPr/>
        </p:nvPicPr>
        <p:blipFill rotWithShape="1">
          <a:blip r:embed="rId5"/>
          <a:srcRect l="75951" t="14425" b="17892"/>
          <a:stretch/>
        </p:blipFill>
        <p:spPr bwMode="auto">
          <a:xfrm>
            <a:off x="7601337" y="75657"/>
            <a:ext cx="1331171" cy="714335"/>
          </a:xfrm>
          <a:prstGeom prst="rect">
            <a:avLst/>
          </a:prstGeom>
          <a:ln>
            <a:noFill/>
          </a:ln>
          <a:extLst>
            <a:ext uri="{53640926-AAD7-44D8-BBD7-CCE9431645EC}">
              <a14:shadowObscured xmlns:a14="http://schemas.microsoft.com/office/drawing/2010/main"/>
            </a:ext>
          </a:extLst>
        </p:spPr>
      </p:pic>
      <p:sp>
        <p:nvSpPr>
          <p:cNvPr id="7" name="Google Shape;59;p5"/>
          <p:cNvSpPr txBox="1"/>
          <p:nvPr/>
        </p:nvSpPr>
        <p:spPr>
          <a:xfrm>
            <a:off x="646356" y="1210523"/>
            <a:ext cx="7677021" cy="3457316"/>
          </a:xfrm>
          <a:prstGeom prst="rect">
            <a:avLst/>
          </a:prstGeom>
          <a:noFill/>
          <a:ln>
            <a:noFill/>
          </a:ln>
        </p:spPr>
        <p:txBody>
          <a:bodyPr spcFirstLastPara="1" wrap="square" lIns="91425" tIns="45700" rIns="91425" bIns="45700" anchor="t" anchorCtr="0">
            <a:spAutoFit/>
          </a:bodyPr>
          <a:lstStyle/>
          <a:p>
            <a:pPr marL="285750" lvl="0" indent="-285750" algn="just">
              <a:buFont typeface="Arial" panose="020B0604020202020204" pitchFamily="34" charset="0"/>
              <a:buChar char="•"/>
            </a:pPr>
            <a:r>
              <a:rPr lang="es-MX" sz="1800" dirty="0">
                <a:latin typeface="+mn-lt"/>
                <a:cs typeface="Calibri" panose="020F0502020204030204" pitchFamily="34" charset="0"/>
              </a:rPr>
              <a:t>Implementar mecanismos de clasificación y visualización de datos, organizando los niveles de ruido en categorías (bajo, moderado y alto) mediante indicadores gráficos, colores o escenarios interactivos.</a:t>
            </a:r>
            <a:endParaRPr lang="en-US" sz="1800" dirty="0">
              <a:latin typeface="+mn-lt"/>
              <a:cs typeface="Calibri" panose="020F0502020204030204" pitchFamily="34" charset="0"/>
            </a:endParaRPr>
          </a:p>
          <a:p>
            <a:pPr algn="just"/>
            <a:r>
              <a:rPr lang="es-MX" sz="1800" dirty="0">
                <a:latin typeface="+mn-lt"/>
                <a:cs typeface="Calibri" panose="020F0502020204030204" pitchFamily="34" charset="0"/>
              </a:rPr>
              <a:t> </a:t>
            </a:r>
            <a:endParaRPr lang="en-US" sz="1800" dirty="0">
              <a:latin typeface="+mn-lt"/>
              <a:cs typeface="Calibri" panose="020F0502020204030204" pitchFamily="34" charset="0"/>
            </a:endParaRPr>
          </a:p>
          <a:p>
            <a:pPr marL="285750" lvl="0" indent="-285750" algn="just">
              <a:buFont typeface="Arial" panose="020B0604020202020204" pitchFamily="34" charset="0"/>
              <a:buChar char="•"/>
            </a:pPr>
            <a:r>
              <a:rPr lang="es-MX" sz="1800" dirty="0">
                <a:latin typeface="+mn-lt"/>
                <a:cs typeface="Calibri" panose="020F0502020204030204" pitchFamily="34" charset="0"/>
              </a:rPr>
              <a:t>Integrar funcionalidades de análisis y generación de reportes, permitiendo obtener estadísticas básicas como promedio de ruido, comportamiento del grupo y horarios con mayor afectación sonora</a:t>
            </a:r>
            <a:r>
              <a:rPr lang="es-MX" sz="1800" dirty="0" smtClean="0">
                <a:latin typeface="+mn-lt"/>
                <a:cs typeface="Calibri" panose="020F0502020204030204" pitchFamily="34" charset="0"/>
              </a:rPr>
              <a:t>.</a:t>
            </a:r>
          </a:p>
          <a:p>
            <a:pPr lvl="0" algn="just"/>
            <a:r>
              <a:rPr lang="es-MX" sz="1800" dirty="0" smtClean="0">
                <a:latin typeface="+mn-lt"/>
                <a:cs typeface="Calibri" panose="020F0502020204030204" pitchFamily="34" charset="0"/>
              </a:rPr>
              <a:t> </a:t>
            </a:r>
            <a:endParaRPr lang="en-US" sz="1800" dirty="0">
              <a:latin typeface="+mn-lt"/>
              <a:cs typeface="Calibri" panose="020F0502020204030204" pitchFamily="34" charset="0"/>
            </a:endParaRPr>
          </a:p>
          <a:p>
            <a:pPr marL="285750" lvl="0" indent="-285750" algn="just">
              <a:buFont typeface="Arial" panose="020B0604020202020204" pitchFamily="34" charset="0"/>
              <a:buChar char="•"/>
            </a:pPr>
            <a:r>
              <a:rPr lang="es-MX" sz="1800" dirty="0">
                <a:latin typeface="+mn-lt"/>
                <a:cs typeface="Calibri" panose="020F0502020204030204" pitchFamily="34" charset="0"/>
              </a:rPr>
              <a:t>Realizar pruebas funcionales y de usabilidad para verificar el correcto funcionamiento del sistema, la precisión en la medición del sonido y la facilidad de uso para docentes y estudiantes. </a:t>
            </a:r>
            <a:r>
              <a:rPr lang="es-MX" sz="1600" dirty="0"/>
              <a:t> </a:t>
            </a:r>
            <a:endParaRPr lang="en-US" sz="1600" dirty="0"/>
          </a:p>
          <a:p>
            <a:pPr marL="0" marR="0" lvl="0" indent="0" algn="just" rtl="0">
              <a:lnSpc>
                <a:spcPct val="100000"/>
              </a:lnSpc>
              <a:spcBef>
                <a:spcPts val="800"/>
              </a:spcBef>
              <a:spcAft>
                <a:spcPts val="0"/>
              </a:spcAft>
              <a:buClr>
                <a:srgbClr val="000000"/>
              </a:buClr>
              <a:buSzPts val="1600"/>
              <a:buFont typeface="Arial"/>
              <a:buNone/>
            </a:pPr>
            <a:endParaRPr b="1" dirty="0">
              <a:solidFill>
                <a:schemeClr val="accent2"/>
              </a:solidFill>
              <a:latin typeface="Calibri" panose="020F0502020204030204" pitchFamily="34" charset="0"/>
              <a:ea typeface="Arial Narrow"/>
              <a:cs typeface="Calibri" panose="020F0502020204030204" pitchFamily="34" charset="0"/>
              <a:sym typeface="Arial Narrow"/>
            </a:endParaRPr>
          </a:p>
        </p:txBody>
      </p:sp>
    </p:spTree>
    <p:extLst>
      <p:ext uri="{BB962C8B-B14F-4D97-AF65-F5344CB8AC3E}">
        <p14:creationId xmlns:p14="http://schemas.microsoft.com/office/powerpoint/2010/main" val="34609230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429942" y="398057"/>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CO" sz="3400" dirty="0">
                <a:solidFill>
                  <a:srgbClr val="015583"/>
                </a:solidFill>
                <a:latin typeface="Calibri"/>
                <a:ea typeface="Calibri"/>
                <a:cs typeface="Calibri"/>
                <a:sym typeface="Calibri"/>
              </a:rPr>
              <a:t>OBJETIVOS D</a:t>
            </a:r>
            <a:r>
              <a:rPr lang="es-CO" sz="3400" b="1" dirty="0">
                <a:solidFill>
                  <a:srgbClr val="015583"/>
                </a:solidFill>
                <a:latin typeface="Calibri"/>
                <a:ea typeface="Calibri"/>
                <a:cs typeface="Calibri"/>
                <a:sym typeface="Calibri"/>
              </a:rPr>
              <a:t>EL PROYECTO</a:t>
            </a: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pic>
        <p:nvPicPr>
          <p:cNvPr id="2" name="image3.jpg">
            <a:extLst>
              <a:ext uri="{FF2B5EF4-FFF2-40B4-BE49-F238E27FC236}">
                <a16:creationId xmlns:a16="http://schemas.microsoft.com/office/drawing/2014/main" id="{D4A1449B-7FD9-EC6B-8AE0-5738E142903C}"/>
              </a:ext>
            </a:extLst>
          </p:cNvPr>
          <p:cNvPicPr/>
          <p:nvPr/>
        </p:nvPicPr>
        <p:blipFill rotWithShape="1">
          <a:blip r:embed="rId5"/>
          <a:srcRect l="75951" t="14425" b="17892"/>
          <a:stretch/>
        </p:blipFill>
        <p:spPr bwMode="auto">
          <a:xfrm>
            <a:off x="7601337" y="75657"/>
            <a:ext cx="1331171" cy="714335"/>
          </a:xfrm>
          <a:prstGeom prst="rect">
            <a:avLst/>
          </a:prstGeom>
          <a:ln>
            <a:noFill/>
          </a:ln>
          <a:extLst>
            <a:ext uri="{53640926-AAD7-44D8-BBD7-CCE9431645EC}">
              <a14:shadowObscured xmlns:a14="http://schemas.microsoft.com/office/drawing/2010/main"/>
            </a:ext>
          </a:extLst>
        </p:spPr>
      </p:pic>
      <p:sp>
        <p:nvSpPr>
          <p:cNvPr id="7" name="Google Shape;59;p5"/>
          <p:cNvSpPr txBox="1"/>
          <p:nvPr/>
        </p:nvSpPr>
        <p:spPr>
          <a:xfrm>
            <a:off x="1120834" y="1516795"/>
            <a:ext cx="6816316" cy="2934096"/>
          </a:xfrm>
          <a:prstGeom prst="rect">
            <a:avLst/>
          </a:prstGeom>
          <a:noFill/>
          <a:ln>
            <a:noFill/>
          </a:ln>
        </p:spPr>
        <p:txBody>
          <a:bodyPr spcFirstLastPara="1" wrap="square" lIns="91425" tIns="45700" rIns="91425" bIns="45700" anchor="t" anchorCtr="0">
            <a:spAutoFit/>
          </a:bodyPr>
          <a:lstStyle/>
          <a:p>
            <a:pPr marL="285750" lvl="0" indent="-285750">
              <a:buFont typeface="Arial" panose="020B0604020202020204" pitchFamily="34" charset="0"/>
              <a:buChar char="•"/>
            </a:pPr>
            <a:r>
              <a:rPr lang="es-MX" sz="1800" dirty="0"/>
              <a:t>Implementar estrategias tecnológicas de concienciación y mitigación del ruido, como alertas visuales, zonas de silencio y dinámicas interactivas que fomenten ambientes escolares más adecuados. </a:t>
            </a:r>
            <a:endParaRPr lang="en-US" sz="1800" dirty="0"/>
          </a:p>
          <a:p>
            <a:r>
              <a:rPr lang="es-MX" sz="1800" dirty="0"/>
              <a:t> </a:t>
            </a:r>
            <a:endParaRPr lang="en-US" sz="1800" dirty="0"/>
          </a:p>
          <a:p>
            <a:pPr marL="285750" lvl="0" indent="-285750">
              <a:buFont typeface="Arial" panose="020B0604020202020204" pitchFamily="34" charset="0"/>
              <a:buChar char="•"/>
            </a:pPr>
            <a:r>
              <a:rPr lang="es-MX" sz="1800" dirty="0"/>
              <a:t>Evaluar el impacto del software en la comunidad educativa, promoviendo el uso responsable de la tecnología como herramienta para mejorar la convivencia y el ambiente escolar.</a:t>
            </a:r>
            <a:endParaRPr lang="en-US" sz="1800" dirty="0"/>
          </a:p>
          <a:p>
            <a:pPr marL="0" marR="0" lvl="0" indent="0" algn="just" rtl="0">
              <a:lnSpc>
                <a:spcPct val="100000"/>
              </a:lnSpc>
              <a:spcBef>
                <a:spcPts val="800"/>
              </a:spcBef>
              <a:spcAft>
                <a:spcPts val="0"/>
              </a:spcAft>
              <a:buClr>
                <a:srgbClr val="000000"/>
              </a:buClr>
              <a:buSzPts val="1600"/>
              <a:buFont typeface="Arial"/>
              <a:buNone/>
            </a:pPr>
            <a:endParaRPr sz="1600" b="1" dirty="0">
              <a:solidFill>
                <a:schemeClr val="accent2"/>
              </a:solidFill>
              <a:latin typeface="Calibri" panose="020F0502020204030204" pitchFamily="34" charset="0"/>
              <a:ea typeface="Arial Narrow"/>
              <a:cs typeface="Calibri" panose="020F0502020204030204" pitchFamily="34" charset="0"/>
              <a:sym typeface="Arial Narrow"/>
            </a:endParaRPr>
          </a:p>
        </p:txBody>
      </p:sp>
    </p:spTree>
    <p:extLst>
      <p:ext uri="{BB962C8B-B14F-4D97-AF65-F5344CB8AC3E}">
        <p14:creationId xmlns:p14="http://schemas.microsoft.com/office/powerpoint/2010/main" val="13053655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398770" y="81877"/>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CO" sz="3400" dirty="0">
                <a:solidFill>
                  <a:srgbClr val="015583"/>
                </a:solidFill>
                <a:latin typeface="Calibri"/>
                <a:ea typeface="Calibri"/>
                <a:cs typeface="Calibri"/>
                <a:sym typeface="Calibri"/>
              </a:rPr>
              <a:t>METODO</a:t>
            </a:r>
            <a:r>
              <a:rPr lang="es-CO" sz="3400" b="1" dirty="0">
                <a:solidFill>
                  <a:srgbClr val="015583"/>
                </a:solidFill>
                <a:latin typeface="Calibri"/>
                <a:ea typeface="Calibri"/>
                <a:cs typeface="Calibri"/>
                <a:sym typeface="Calibri"/>
              </a:rPr>
              <a:t>LOGÍA</a:t>
            </a: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sp>
        <p:nvSpPr>
          <p:cNvPr id="4" name="Google Shape;110;p5">
            <a:extLst>
              <a:ext uri="{FF2B5EF4-FFF2-40B4-BE49-F238E27FC236}">
                <a16:creationId xmlns:a16="http://schemas.microsoft.com/office/drawing/2014/main" id="{A8AE2FB6-62B4-5F75-4F30-1315B9E10AC6}"/>
              </a:ext>
            </a:extLst>
          </p:cNvPr>
          <p:cNvSpPr txBox="1"/>
          <p:nvPr/>
        </p:nvSpPr>
        <p:spPr>
          <a:xfrm>
            <a:off x="518039" y="865947"/>
            <a:ext cx="8279815" cy="3631723"/>
          </a:xfrm>
          <a:prstGeom prst="rect">
            <a:avLst/>
          </a:prstGeom>
          <a:noFill/>
          <a:ln>
            <a:noFill/>
          </a:ln>
        </p:spPr>
        <p:txBody>
          <a:bodyPr spcFirstLastPara="1" wrap="square" lIns="91425" tIns="45700" rIns="91425" bIns="45700" anchor="ctr" anchorCtr="0">
            <a:spAutoFit/>
          </a:bodyPr>
          <a:lstStyle/>
          <a:p>
            <a:r>
              <a:rPr lang="es-CO" sz="1800" dirty="0">
                <a:latin typeface="+mn-lt"/>
                <a:cs typeface="Calibri" panose="020F0502020204030204" pitchFamily="34" charset="0"/>
              </a:rPr>
              <a:t> </a:t>
            </a:r>
            <a:endParaRPr lang="en-US" sz="1800" dirty="0">
              <a:latin typeface="+mn-lt"/>
              <a:cs typeface="Calibri" panose="020F0502020204030204" pitchFamily="34" charset="0"/>
            </a:endParaRPr>
          </a:p>
          <a:p>
            <a:pPr algn="just"/>
            <a:r>
              <a:rPr lang="es-CO" sz="1800" b="1" dirty="0" smtClean="0">
                <a:latin typeface="+mn-lt"/>
                <a:cs typeface="Calibri" panose="020F0502020204030204" pitchFamily="34" charset="0"/>
              </a:rPr>
              <a:t>1.- Pantalla de carga</a:t>
            </a:r>
          </a:p>
          <a:p>
            <a:pPr algn="just"/>
            <a:r>
              <a:rPr lang="es-CO" sz="1800" dirty="0" smtClean="0">
                <a:latin typeface="+mn-lt"/>
                <a:cs typeface="Calibri" panose="020F0502020204030204" pitchFamily="34" charset="0"/>
              </a:rPr>
              <a:t> </a:t>
            </a:r>
            <a:r>
              <a:rPr lang="es-CO" sz="1800" dirty="0">
                <a:latin typeface="+mn-lt"/>
                <a:cs typeface="Calibri" panose="020F0502020204030204" pitchFamily="34" charset="0"/>
              </a:rPr>
              <a:t>En la pantalla de carga podemos ver el logo de la app y un indicador que nos dice en cuanto tiempo cargara para ir al registro.</a:t>
            </a:r>
            <a:endParaRPr lang="en-US" sz="1800" dirty="0">
              <a:latin typeface="+mn-lt"/>
              <a:cs typeface="Calibri" panose="020F0502020204030204" pitchFamily="34" charset="0"/>
            </a:endParaRPr>
          </a:p>
          <a:p>
            <a:pPr algn="just"/>
            <a:r>
              <a:rPr lang="es-CO" sz="1800" dirty="0">
                <a:latin typeface="+mn-lt"/>
                <a:cs typeface="Calibri" panose="020F0502020204030204" pitchFamily="34" charset="0"/>
              </a:rPr>
              <a:t> </a:t>
            </a:r>
            <a:endParaRPr lang="en-US" sz="1800" dirty="0">
              <a:latin typeface="+mn-lt"/>
              <a:cs typeface="Calibri" panose="020F0502020204030204" pitchFamily="34" charset="0"/>
            </a:endParaRPr>
          </a:p>
          <a:p>
            <a:pPr algn="just"/>
            <a:r>
              <a:rPr lang="es-CO" sz="1800" b="1" dirty="0">
                <a:latin typeface="+mn-lt"/>
                <a:cs typeface="Calibri" panose="020F0502020204030204" pitchFamily="34" charset="0"/>
              </a:rPr>
              <a:t>2.- Registro. </a:t>
            </a:r>
            <a:endParaRPr lang="es-CO" sz="1800" b="1" dirty="0" smtClean="0">
              <a:latin typeface="+mn-lt"/>
              <a:cs typeface="Calibri" panose="020F0502020204030204" pitchFamily="34" charset="0"/>
            </a:endParaRPr>
          </a:p>
          <a:p>
            <a:pPr algn="just"/>
            <a:r>
              <a:rPr lang="es-CO" sz="1800" dirty="0" smtClean="0">
                <a:latin typeface="+mn-lt"/>
                <a:cs typeface="Calibri" panose="020F0502020204030204" pitchFamily="34" charset="0"/>
              </a:rPr>
              <a:t>  </a:t>
            </a:r>
            <a:r>
              <a:rPr lang="es-CO" sz="1800" dirty="0">
                <a:latin typeface="+mn-lt"/>
                <a:cs typeface="Calibri" panose="020F0502020204030204" pitchFamily="34" charset="0"/>
              </a:rPr>
              <a:t>El registro está compuesto por un contenedor al lado de el podemos ver un disco tipo vinilo que contiene el logo, dentro del contenedor están los inputs de: Nombre, Usuario, Correo, Contraseña, debajo de estos podemos ver los iconos de GitHub, Google y Apple, también contiene un botón que funciona para mandar el formulario.                                    </a:t>
            </a:r>
            <a:endParaRPr lang="en-US" sz="1800" dirty="0">
              <a:latin typeface="+mn-lt"/>
              <a:cs typeface="Calibri" panose="020F0502020204030204" pitchFamily="34" charset="0"/>
            </a:endParaRPr>
          </a:p>
          <a:p>
            <a:r>
              <a:rPr lang="es-CO" sz="1600" dirty="0">
                <a:latin typeface="Calibri" panose="020F0502020204030204" pitchFamily="34" charset="0"/>
                <a:cs typeface="Calibri" panose="020F0502020204030204" pitchFamily="34" charset="0"/>
              </a:rPr>
              <a:t> </a:t>
            </a:r>
            <a:endParaRPr lang="en-US" sz="1600" dirty="0">
              <a:latin typeface="Calibri" panose="020F0502020204030204" pitchFamily="34" charset="0"/>
              <a:cs typeface="Calibri" panose="020F0502020204030204" pitchFamily="34" charset="0"/>
            </a:endParaRPr>
          </a:p>
          <a:p>
            <a:pPr marL="0" marR="0" lvl="0" indent="0" algn="just" rtl="0">
              <a:spcBef>
                <a:spcPts val="0"/>
              </a:spcBef>
              <a:spcAft>
                <a:spcPts val="0"/>
              </a:spcAft>
              <a:buNone/>
            </a:pPr>
            <a:endParaRPr lang="es-CO" sz="16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p:txBody>
      </p:sp>
      <p:pic>
        <p:nvPicPr>
          <p:cNvPr id="2" name="image3.jpg">
            <a:extLst>
              <a:ext uri="{FF2B5EF4-FFF2-40B4-BE49-F238E27FC236}">
                <a16:creationId xmlns:a16="http://schemas.microsoft.com/office/drawing/2014/main" id="{991F2E8A-87B5-8980-B181-49289935802F}"/>
              </a:ext>
            </a:extLst>
          </p:cNvPr>
          <p:cNvPicPr/>
          <p:nvPr/>
        </p:nvPicPr>
        <p:blipFill rotWithShape="1">
          <a:blip r:embed="rId5"/>
          <a:srcRect l="75951" t="14425" b="17892"/>
          <a:stretch/>
        </p:blipFill>
        <p:spPr bwMode="auto">
          <a:xfrm>
            <a:off x="7601337" y="81877"/>
            <a:ext cx="1331171" cy="7143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666407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398770" y="81877"/>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CO" sz="3400" dirty="0">
                <a:solidFill>
                  <a:srgbClr val="015583"/>
                </a:solidFill>
                <a:latin typeface="Calibri"/>
                <a:ea typeface="Calibri"/>
                <a:cs typeface="Calibri"/>
                <a:sym typeface="Calibri"/>
              </a:rPr>
              <a:t>METODO</a:t>
            </a:r>
            <a:r>
              <a:rPr lang="es-CO" sz="3400" b="1" dirty="0">
                <a:solidFill>
                  <a:srgbClr val="015583"/>
                </a:solidFill>
                <a:latin typeface="Calibri"/>
                <a:ea typeface="Calibri"/>
                <a:cs typeface="Calibri"/>
                <a:sym typeface="Calibri"/>
              </a:rPr>
              <a:t>LOGÍA</a:t>
            </a: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sp>
        <p:nvSpPr>
          <p:cNvPr id="4" name="Google Shape;110;p5">
            <a:extLst>
              <a:ext uri="{FF2B5EF4-FFF2-40B4-BE49-F238E27FC236}">
                <a16:creationId xmlns:a16="http://schemas.microsoft.com/office/drawing/2014/main" id="{A8AE2FB6-62B4-5F75-4F30-1315B9E10AC6}"/>
              </a:ext>
            </a:extLst>
          </p:cNvPr>
          <p:cNvSpPr txBox="1"/>
          <p:nvPr/>
        </p:nvSpPr>
        <p:spPr>
          <a:xfrm>
            <a:off x="600322" y="1007573"/>
            <a:ext cx="8197533" cy="3970277"/>
          </a:xfrm>
          <a:prstGeom prst="rect">
            <a:avLst/>
          </a:prstGeom>
          <a:noFill/>
          <a:ln>
            <a:noFill/>
          </a:ln>
        </p:spPr>
        <p:txBody>
          <a:bodyPr spcFirstLastPara="1" wrap="square" lIns="91425" tIns="45700" rIns="91425" bIns="45700" anchor="ctr" anchorCtr="0">
            <a:spAutoFit/>
          </a:bodyPr>
          <a:lstStyle/>
          <a:p>
            <a:r>
              <a:rPr lang="es-CO" sz="1800" b="1" dirty="0">
                <a:latin typeface="+mn-lt"/>
                <a:cs typeface="Calibri" panose="020F0502020204030204" pitchFamily="34" charset="0"/>
              </a:rPr>
              <a:t>3.- Inicio de sesión.</a:t>
            </a:r>
            <a:r>
              <a:rPr lang="es-CO" sz="1800" dirty="0">
                <a:latin typeface="+mn-lt"/>
                <a:cs typeface="Calibri" panose="020F0502020204030204" pitchFamily="34" charset="0"/>
              </a:rPr>
              <a:t>   </a:t>
            </a:r>
            <a:endParaRPr lang="es-CO" sz="1800" dirty="0" smtClean="0">
              <a:latin typeface="+mn-lt"/>
              <a:cs typeface="Calibri" panose="020F0502020204030204" pitchFamily="34" charset="0"/>
            </a:endParaRPr>
          </a:p>
          <a:p>
            <a:pPr algn="just"/>
            <a:r>
              <a:rPr lang="es-CO" sz="1800" dirty="0" smtClean="0">
                <a:latin typeface="+mn-lt"/>
                <a:cs typeface="Calibri" panose="020F0502020204030204" pitchFamily="34" charset="0"/>
              </a:rPr>
              <a:t>En </a:t>
            </a:r>
            <a:r>
              <a:rPr lang="es-CO" sz="1800" dirty="0">
                <a:latin typeface="+mn-lt"/>
                <a:cs typeface="Calibri" panose="020F0502020204030204" pitchFamily="34" charset="0"/>
              </a:rPr>
              <a:t>el Inicio de sesión podemos ver casi mismo que en el registro ósea que está compuesto por un contenedor, al lado de el podemos ver un disco tipo vinilo que contiene el logo, dentro del contenedor están los inputs de: Usuario, Contraseña, debajo de estos podemos ver los iconos de GitHub, Google y Apple, también contiene un botón que funciona para Ir al menú.</a:t>
            </a:r>
            <a:endParaRPr lang="en-US" sz="1800" dirty="0">
              <a:latin typeface="+mn-lt"/>
              <a:cs typeface="Calibri" panose="020F0502020204030204" pitchFamily="34" charset="0"/>
            </a:endParaRPr>
          </a:p>
          <a:p>
            <a:pPr algn="just"/>
            <a:r>
              <a:rPr lang="es-CO" sz="1800" dirty="0">
                <a:latin typeface="+mn-lt"/>
                <a:cs typeface="Calibri" panose="020F0502020204030204" pitchFamily="34" charset="0"/>
              </a:rPr>
              <a:t> </a:t>
            </a:r>
            <a:endParaRPr lang="en-US" sz="1800" dirty="0">
              <a:latin typeface="+mn-lt"/>
              <a:cs typeface="Calibri" panose="020F0502020204030204" pitchFamily="34" charset="0"/>
            </a:endParaRPr>
          </a:p>
          <a:p>
            <a:pPr algn="just"/>
            <a:r>
              <a:rPr lang="es-CO" sz="1800" b="1" dirty="0">
                <a:latin typeface="+mn-lt"/>
                <a:cs typeface="Calibri" panose="020F0502020204030204" pitchFamily="34" charset="0"/>
              </a:rPr>
              <a:t>4.-Menú</a:t>
            </a:r>
            <a:r>
              <a:rPr lang="es-CO" sz="1800" b="1" dirty="0" smtClean="0">
                <a:latin typeface="+mn-lt"/>
                <a:cs typeface="Calibri" panose="020F0502020204030204" pitchFamily="34" charset="0"/>
              </a:rPr>
              <a:t>.</a:t>
            </a:r>
          </a:p>
          <a:p>
            <a:pPr algn="just"/>
            <a:r>
              <a:rPr lang="es-CO" sz="1800" dirty="0" smtClean="0">
                <a:latin typeface="+mn-lt"/>
                <a:cs typeface="Calibri" panose="020F0502020204030204" pitchFamily="34" charset="0"/>
              </a:rPr>
              <a:t> </a:t>
            </a:r>
            <a:r>
              <a:rPr lang="es-CO" sz="1800" dirty="0">
                <a:latin typeface="+mn-lt"/>
                <a:cs typeface="Calibri" panose="020F0502020204030204" pitchFamily="34" charset="0"/>
              </a:rPr>
              <a:t>En el menú podemos encontrar una persona que nos da referencia al silencio y a la esquina superior izquierda podemos ver nuestro logo que despliega la </a:t>
            </a:r>
            <a:r>
              <a:rPr lang="es-CO" sz="1800" dirty="0" err="1">
                <a:latin typeface="+mn-lt"/>
                <a:cs typeface="Calibri" panose="020F0502020204030204" pitchFamily="34" charset="0"/>
              </a:rPr>
              <a:t>navBar</a:t>
            </a:r>
            <a:r>
              <a:rPr lang="es-CO" sz="1800" dirty="0">
                <a:latin typeface="+mn-lt"/>
                <a:cs typeface="Calibri" panose="020F0502020204030204" pitchFamily="34" charset="0"/>
              </a:rPr>
              <a:t> para ir a las siguientes interfaces.</a:t>
            </a:r>
            <a:endParaRPr lang="en-US" sz="1800" dirty="0">
              <a:latin typeface="+mn-lt"/>
              <a:cs typeface="Calibri" panose="020F0502020204030204" pitchFamily="34" charset="0"/>
            </a:endParaRPr>
          </a:p>
          <a:p>
            <a:r>
              <a:rPr lang="es-CO" sz="1800" dirty="0">
                <a:latin typeface="+mn-lt"/>
                <a:cs typeface="Calibri" panose="020F0502020204030204" pitchFamily="34" charset="0"/>
              </a:rPr>
              <a:t> </a:t>
            </a:r>
            <a:endParaRPr lang="en-US" sz="1800" dirty="0">
              <a:latin typeface="+mn-lt"/>
              <a:cs typeface="Calibri" panose="020F0502020204030204" pitchFamily="34" charset="0"/>
            </a:endParaRPr>
          </a:p>
          <a:p>
            <a:r>
              <a:rPr lang="es-CO" sz="1800" dirty="0">
                <a:latin typeface="+mn-lt"/>
                <a:cs typeface="Calibri" panose="020F0502020204030204" pitchFamily="34" charset="0"/>
              </a:rPr>
              <a:t> </a:t>
            </a:r>
            <a:endParaRPr lang="en-US" sz="1800" dirty="0">
              <a:latin typeface="+mn-lt"/>
              <a:cs typeface="Calibri" panose="020F0502020204030204" pitchFamily="34" charset="0"/>
            </a:endParaRPr>
          </a:p>
          <a:p>
            <a:pPr marL="0" marR="0" lvl="0" indent="0" algn="just" rtl="0">
              <a:spcBef>
                <a:spcPts val="0"/>
              </a:spcBef>
              <a:spcAft>
                <a:spcPts val="0"/>
              </a:spcAft>
              <a:buNone/>
            </a:pPr>
            <a:endParaRPr lang="es-CO" sz="1800" b="0" i="0" u="none" strike="noStrike" cap="none" dirty="0">
              <a:solidFill>
                <a:schemeClr val="dk1"/>
              </a:solidFill>
              <a:latin typeface="+mn-lt"/>
              <a:ea typeface="Calibri"/>
              <a:cs typeface="Calibri" panose="020F0502020204030204" pitchFamily="34" charset="0"/>
              <a:sym typeface="Calibri"/>
            </a:endParaRPr>
          </a:p>
        </p:txBody>
      </p:sp>
      <p:pic>
        <p:nvPicPr>
          <p:cNvPr id="2" name="image3.jpg">
            <a:extLst>
              <a:ext uri="{FF2B5EF4-FFF2-40B4-BE49-F238E27FC236}">
                <a16:creationId xmlns:a16="http://schemas.microsoft.com/office/drawing/2014/main" id="{991F2E8A-87B5-8980-B181-49289935802F}"/>
              </a:ext>
            </a:extLst>
          </p:cNvPr>
          <p:cNvPicPr/>
          <p:nvPr/>
        </p:nvPicPr>
        <p:blipFill rotWithShape="1">
          <a:blip r:embed="rId5"/>
          <a:srcRect l="75951" t="14425" b="17892"/>
          <a:stretch/>
        </p:blipFill>
        <p:spPr bwMode="auto">
          <a:xfrm>
            <a:off x="7601337" y="81877"/>
            <a:ext cx="1331171" cy="7143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285979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388380" y="277828"/>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CO" sz="3400" dirty="0">
                <a:solidFill>
                  <a:srgbClr val="015583"/>
                </a:solidFill>
                <a:latin typeface="Calibri"/>
                <a:ea typeface="Calibri"/>
                <a:cs typeface="Calibri"/>
                <a:sym typeface="Calibri"/>
              </a:rPr>
              <a:t>METODO</a:t>
            </a:r>
            <a:r>
              <a:rPr lang="es-CO" sz="3400" b="1" dirty="0">
                <a:solidFill>
                  <a:srgbClr val="015583"/>
                </a:solidFill>
                <a:latin typeface="Calibri"/>
                <a:ea typeface="Calibri"/>
                <a:cs typeface="Calibri"/>
                <a:sym typeface="Calibri"/>
              </a:rPr>
              <a:t>LOGÍA</a:t>
            </a: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sp>
        <p:nvSpPr>
          <p:cNvPr id="4" name="Google Shape;110;p5">
            <a:extLst>
              <a:ext uri="{FF2B5EF4-FFF2-40B4-BE49-F238E27FC236}">
                <a16:creationId xmlns:a16="http://schemas.microsoft.com/office/drawing/2014/main" id="{A8AE2FB6-62B4-5F75-4F30-1315B9E10AC6}"/>
              </a:ext>
            </a:extLst>
          </p:cNvPr>
          <p:cNvSpPr txBox="1"/>
          <p:nvPr/>
        </p:nvSpPr>
        <p:spPr>
          <a:xfrm>
            <a:off x="514794" y="1159751"/>
            <a:ext cx="8417714" cy="3447057"/>
          </a:xfrm>
          <a:prstGeom prst="rect">
            <a:avLst/>
          </a:prstGeom>
          <a:noFill/>
          <a:ln>
            <a:noFill/>
          </a:ln>
        </p:spPr>
        <p:txBody>
          <a:bodyPr spcFirstLastPara="1" wrap="square" lIns="91425" tIns="45700" rIns="91425" bIns="45700" anchor="ctr" anchorCtr="0">
            <a:spAutoFit/>
          </a:bodyPr>
          <a:lstStyle/>
          <a:p>
            <a:r>
              <a:rPr lang="es-CO" sz="1800" b="1" dirty="0">
                <a:latin typeface="+mn-lt"/>
                <a:cs typeface="Calibri" panose="020F0502020204030204" pitchFamily="34" charset="0"/>
              </a:rPr>
              <a:t> </a:t>
            </a:r>
            <a:r>
              <a:rPr lang="es-CO" sz="1800" b="1" dirty="0">
                <a:latin typeface="+mn-lt"/>
                <a:cs typeface="Calibri" panose="020F0502020204030204" pitchFamily="34" charset="0"/>
              </a:rPr>
              <a:t>5.- Acerca de: </a:t>
            </a:r>
            <a:endParaRPr lang="es-CO" sz="1800" b="1" dirty="0" smtClean="0">
              <a:latin typeface="+mn-lt"/>
              <a:cs typeface="Calibri" panose="020F0502020204030204" pitchFamily="34" charset="0"/>
            </a:endParaRPr>
          </a:p>
          <a:p>
            <a:pPr algn="just"/>
            <a:r>
              <a:rPr lang="es-CO" sz="1800" dirty="0" smtClean="0">
                <a:latin typeface="+mn-lt"/>
                <a:cs typeface="Calibri" panose="020F0502020204030204" pitchFamily="34" charset="0"/>
              </a:rPr>
              <a:t>En </a:t>
            </a:r>
            <a:r>
              <a:rPr lang="es-CO" sz="1800" dirty="0">
                <a:latin typeface="+mn-lt"/>
                <a:cs typeface="Calibri" panose="020F0502020204030204" pitchFamily="34" charset="0"/>
              </a:rPr>
              <a:t>él acerca de Podemos encontrar un carrusel de imágenes el cual incluye los prototipos de alta fidelidad, también podemos ver dos contenedores los cuales tienen el problema y la solución.</a:t>
            </a:r>
            <a:endParaRPr lang="en-US" sz="1800" dirty="0">
              <a:latin typeface="+mn-lt"/>
              <a:cs typeface="Calibri" panose="020F0502020204030204" pitchFamily="34" charset="0"/>
            </a:endParaRPr>
          </a:p>
          <a:p>
            <a:pPr algn="just"/>
            <a:endParaRPr lang="en-US" sz="1800" dirty="0">
              <a:latin typeface="+mn-lt"/>
              <a:cs typeface="Calibri" panose="020F0502020204030204" pitchFamily="34" charset="0"/>
            </a:endParaRPr>
          </a:p>
          <a:p>
            <a:pPr algn="just"/>
            <a:r>
              <a:rPr lang="es-CO" sz="1800" b="1" dirty="0">
                <a:latin typeface="+mn-lt"/>
                <a:cs typeface="Calibri" panose="020F0502020204030204" pitchFamily="34" charset="0"/>
              </a:rPr>
              <a:t>6.-Creditos: </a:t>
            </a:r>
            <a:endParaRPr lang="es-CO" sz="1800" b="1" dirty="0" smtClean="0">
              <a:latin typeface="+mn-lt"/>
              <a:cs typeface="Calibri" panose="020F0502020204030204" pitchFamily="34" charset="0"/>
            </a:endParaRPr>
          </a:p>
          <a:p>
            <a:pPr algn="just"/>
            <a:r>
              <a:rPr lang="es-CO" sz="1800" dirty="0" smtClean="0">
                <a:latin typeface="+mn-lt"/>
                <a:cs typeface="Calibri" panose="020F0502020204030204" pitchFamily="34" charset="0"/>
              </a:rPr>
              <a:t>en </a:t>
            </a:r>
            <a:r>
              <a:rPr lang="es-CO" sz="1800" dirty="0">
                <a:latin typeface="+mn-lt"/>
                <a:cs typeface="Calibri" panose="020F0502020204030204" pitchFamily="34" charset="0"/>
              </a:rPr>
              <a:t>los créditos podemos ver 3 contenedores de cada uno los cuales voltean con el </a:t>
            </a:r>
            <a:r>
              <a:rPr lang="es-CO" sz="1800" dirty="0" err="1">
                <a:latin typeface="+mn-lt"/>
                <a:cs typeface="Calibri" panose="020F0502020204030204" pitchFamily="34" charset="0"/>
              </a:rPr>
              <a:t>hover</a:t>
            </a:r>
            <a:r>
              <a:rPr lang="es-CO" sz="1800" dirty="0">
                <a:latin typeface="+mn-lt"/>
                <a:cs typeface="Calibri" panose="020F0502020204030204" pitchFamily="34" charset="0"/>
              </a:rPr>
              <a:t> del mouse al pasar por encima de ellos, mostrando, la imagen, descripción, habilidades de cada uno, aparte del logo de: la app, la Pascual Bravo y la IEFAZ.</a:t>
            </a:r>
            <a:endParaRPr lang="en-US" sz="1800" dirty="0">
              <a:latin typeface="+mn-lt"/>
              <a:cs typeface="Calibri" panose="020F0502020204030204" pitchFamily="34" charset="0"/>
            </a:endParaRPr>
          </a:p>
          <a:p>
            <a:r>
              <a:rPr lang="es-CO" sz="1800" dirty="0">
                <a:latin typeface="+mn-lt"/>
                <a:cs typeface="Calibri" panose="020F0502020204030204" pitchFamily="34" charset="0"/>
              </a:rPr>
              <a:t> </a:t>
            </a:r>
            <a:endParaRPr lang="en-US" sz="1800" dirty="0">
              <a:latin typeface="+mn-lt"/>
              <a:cs typeface="Calibri" panose="020F0502020204030204" pitchFamily="34" charset="0"/>
            </a:endParaRPr>
          </a:p>
          <a:p>
            <a:r>
              <a:rPr lang="es-CO" sz="1600" dirty="0">
                <a:latin typeface="+mn-lt"/>
                <a:cs typeface="Calibri" panose="020F0502020204030204" pitchFamily="34" charset="0"/>
              </a:rPr>
              <a:t> </a:t>
            </a:r>
            <a:endParaRPr lang="en-US" sz="1600" dirty="0">
              <a:latin typeface="+mn-lt"/>
              <a:cs typeface="Calibri" panose="020F0502020204030204" pitchFamily="34" charset="0"/>
            </a:endParaRPr>
          </a:p>
          <a:p>
            <a:pPr marL="0" marR="0" lvl="0" indent="0" algn="just" rtl="0">
              <a:spcBef>
                <a:spcPts val="0"/>
              </a:spcBef>
              <a:spcAft>
                <a:spcPts val="0"/>
              </a:spcAft>
              <a:buNone/>
            </a:pPr>
            <a:endParaRPr lang="es-CO" sz="6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p:txBody>
      </p:sp>
      <p:pic>
        <p:nvPicPr>
          <p:cNvPr id="2" name="image3.jpg">
            <a:extLst>
              <a:ext uri="{FF2B5EF4-FFF2-40B4-BE49-F238E27FC236}">
                <a16:creationId xmlns:a16="http://schemas.microsoft.com/office/drawing/2014/main" id="{991F2E8A-87B5-8980-B181-49289935802F}"/>
              </a:ext>
            </a:extLst>
          </p:cNvPr>
          <p:cNvPicPr/>
          <p:nvPr/>
        </p:nvPicPr>
        <p:blipFill rotWithShape="1">
          <a:blip r:embed="rId5"/>
          <a:srcRect l="75951" t="14425" b="17892"/>
          <a:stretch/>
        </p:blipFill>
        <p:spPr bwMode="auto">
          <a:xfrm>
            <a:off x="7601337" y="81877"/>
            <a:ext cx="1331171" cy="7143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771359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419552" y="205092"/>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CO" sz="3400" dirty="0">
                <a:solidFill>
                  <a:srgbClr val="015583"/>
                </a:solidFill>
                <a:latin typeface="Calibri"/>
                <a:ea typeface="Calibri"/>
                <a:cs typeface="Calibri"/>
                <a:sym typeface="Calibri"/>
              </a:rPr>
              <a:t>METODO</a:t>
            </a:r>
            <a:r>
              <a:rPr lang="es-CO" sz="3400" b="1" dirty="0">
                <a:solidFill>
                  <a:srgbClr val="015583"/>
                </a:solidFill>
                <a:latin typeface="Calibri"/>
                <a:ea typeface="Calibri"/>
                <a:cs typeface="Calibri"/>
                <a:sym typeface="Calibri"/>
              </a:rPr>
              <a:t>LOGÍA</a:t>
            </a: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sp>
        <p:nvSpPr>
          <p:cNvPr id="4" name="Google Shape;110;p5">
            <a:extLst>
              <a:ext uri="{FF2B5EF4-FFF2-40B4-BE49-F238E27FC236}">
                <a16:creationId xmlns:a16="http://schemas.microsoft.com/office/drawing/2014/main" id="{A8AE2FB6-62B4-5F75-4F30-1315B9E10AC6}"/>
              </a:ext>
            </a:extLst>
          </p:cNvPr>
          <p:cNvSpPr txBox="1"/>
          <p:nvPr/>
        </p:nvSpPr>
        <p:spPr>
          <a:xfrm>
            <a:off x="707924" y="1124925"/>
            <a:ext cx="7422356" cy="3200836"/>
          </a:xfrm>
          <a:prstGeom prst="rect">
            <a:avLst/>
          </a:prstGeom>
          <a:noFill/>
          <a:ln>
            <a:noFill/>
          </a:ln>
        </p:spPr>
        <p:txBody>
          <a:bodyPr spcFirstLastPara="1" wrap="square" lIns="91425" tIns="45700" rIns="91425" bIns="45700" anchor="ctr" anchorCtr="0">
            <a:spAutoFit/>
          </a:bodyPr>
          <a:lstStyle/>
          <a:p>
            <a:pPr algn="just"/>
            <a:r>
              <a:rPr lang="es-CO" sz="1800" b="1" dirty="0">
                <a:cs typeface="Calibri" panose="020F0502020204030204" pitchFamily="34" charset="0"/>
              </a:rPr>
              <a:t>7.Perfil:</a:t>
            </a:r>
            <a:r>
              <a:rPr lang="es-CO" sz="1800" dirty="0">
                <a:cs typeface="Calibri" panose="020F0502020204030204" pitchFamily="34" charset="0"/>
              </a:rPr>
              <a:t> </a:t>
            </a:r>
            <a:endParaRPr lang="es-CO" sz="1800" dirty="0" smtClean="0">
              <a:cs typeface="Calibri" panose="020F0502020204030204" pitchFamily="34" charset="0"/>
            </a:endParaRPr>
          </a:p>
          <a:p>
            <a:pPr algn="just"/>
            <a:r>
              <a:rPr lang="es-CO" sz="1800" dirty="0" smtClean="0">
                <a:cs typeface="Calibri" panose="020F0502020204030204" pitchFamily="34" charset="0"/>
              </a:rPr>
              <a:t>En </a:t>
            </a:r>
            <a:r>
              <a:rPr lang="es-CO" sz="1800" dirty="0">
                <a:cs typeface="Calibri" panose="020F0502020204030204" pitchFamily="34" charset="0"/>
              </a:rPr>
              <a:t>el perfil podemos encontrar: la imagen de perfil del usuario escogida por el mismo, podemos encontrar su nombre, sus intereses, su correo y más.</a:t>
            </a:r>
            <a:endParaRPr lang="en-US" sz="1800" dirty="0">
              <a:cs typeface="Calibri" panose="020F0502020204030204" pitchFamily="34" charset="0"/>
            </a:endParaRPr>
          </a:p>
          <a:p>
            <a:pPr algn="just"/>
            <a:r>
              <a:rPr lang="es-CO" sz="1800" dirty="0">
                <a:cs typeface="Calibri" panose="020F0502020204030204" pitchFamily="34" charset="0"/>
              </a:rPr>
              <a:t> </a:t>
            </a:r>
            <a:endParaRPr lang="en-US" sz="1800" dirty="0">
              <a:cs typeface="Calibri" panose="020F0502020204030204" pitchFamily="34" charset="0"/>
            </a:endParaRPr>
          </a:p>
          <a:p>
            <a:pPr algn="just"/>
            <a:r>
              <a:rPr lang="es-CO" sz="1800" b="1" dirty="0">
                <a:cs typeface="Calibri" panose="020F0502020204030204" pitchFamily="34" charset="0"/>
              </a:rPr>
              <a:t>8.-Agenda Sonora</a:t>
            </a:r>
            <a:r>
              <a:rPr lang="es-CO" sz="1800" b="1" dirty="0" smtClean="0">
                <a:cs typeface="Calibri" panose="020F0502020204030204" pitchFamily="34" charset="0"/>
              </a:rPr>
              <a:t>:</a:t>
            </a:r>
          </a:p>
          <a:p>
            <a:pPr algn="just"/>
            <a:r>
              <a:rPr lang="es-CO" sz="1800" dirty="0" smtClean="0">
                <a:cs typeface="Calibri" panose="020F0502020204030204" pitchFamily="34" charset="0"/>
              </a:rPr>
              <a:t> </a:t>
            </a:r>
            <a:r>
              <a:rPr lang="es-CO" sz="1800" dirty="0">
                <a:cs typeface="Calibri" panose="020F0502020204030204" pitchFamily="34" charset="0"/>
              </a:rPr>
              <a:t>en la agenda sonora podemos encontrar un calendario con eventos importantes hechos por profesores relacionados con el ruido y el silencio en el colegio.</a:t>
            </a:r>
            <a:endParaRPr lang="en-US" sz="1800" dirty="0">
              <a:cs typeface="Calibri" panose="020F0502020204030204" pitchFamily="34" charset="0"/>
            </a:endParaRPr>
          </a:p>
          <a:p>
            <a:pPr algn="just"/>
            <a:r>
              <a:rPr lang="es-CO" sz="1800" dirty="0">
                <a:latin typeface="+mn-lt"/>
                <a:cs typeface="Calibri" panose="020F0502020204030204" pitchFamily="34" charset="0"/>
              </a:rPr>
              <a:t> </a:t>
            </a:r>
            <a:endParaRPr lang="en-US" sz="1800" dirty="0">
              <a:latin typeface="+mn-lt"/>
              <a:cs typeface="Calibri" panose="020F0502020204030204" pitchFamily="34" charset="0"/>
            </a:endParaRPr>
          </a:p>
          <a:p>
            <a:r>
              <a:rPr lang="es-CO" sz="1600" dirty="0">
                <a:latin typeface="+mn-lt"/>
                <a:cs typeface="Calibri" panose="020F0502020204030204" pitchFamily="34" charset="0"/>
              </a:rPr>
              <a:t> </a:t>
            </a:r>
            <a:endParaRPr lang="en-US" sz="1600" dirty="0">
              <a:latin typeface="+mn-lt"/>
              <a:cs typeface="Calibri" panose="020F0502020204030204" pitchFamily="34" charset="0"/>
            </a:endParaRPr>
          </a:p>
          <a:p>
            <a:pPr marL="0" marR="0" lvl="0" indent="0" algn="just" rtl="0">
              <a:spcBef>
                <a:spcPts val="0"/>
              </a:spcBef>
              <a:spcAft>
                <a:spcPts val="0"/>
              </a:spcAft>
              <a:buNone/>
            </a:pPr>
            <a:endParaRPr lang="es-CO" sz="6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p:txBody>
      </p:sp>
      <p:pic>
        <p:nvPicPr>
          <p:cNvPr id="2" name="image3.jpg">
            <a:extLst>
              <a:ext uri="{FF2B5EF4-FFF2-40B4-BE49-F238E27FC236}">
                <a16:creationId xmlns:a16="http://schemas.microsoft.com/office/drawing/2014/main" id="{991F2E8A-87B5-8980-B181-49289935802F}"/>
              </a:ext>
            </a:extLst>
          </p:cNvPr>
          <p:cNvPicPr/>
          <p:nvPr/>
        </p:nvPicPr>
        <p:blipFill rotWithShape="1">
          <a:blip r:embed="rId5"/>
          <a:srcRect l="75951" t="14425" b="17892"/>
          <a:stretch/>
        </p:blipFill>
        <p:spPr bwMode="auto">
          <a:xfrm>
            <a:off x="7601337" y="81877"/>
            <a:ext cx="1331171" cy="7143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385292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419552" y="205092"/>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CO" sz="3400" dirty="0">
                <a:solidFill>
                  <a:srgbClr val="015583"/>
                </a:solidFill>
                <a:latin typeface="Calibri"/>
                <a:ea typeface="Calibri"/>
                <a:cs typeface="Calibri"/>
                <a:sym typeface="Calibri"/>
              </a:rPr>
              <a:t>METODO</a:t>
            </a:r>
            <a:r>
              <a:rPr lang="es-CO" sz="3400" b="1" dirty="0">
                <a:solidFill>
                  <a:srgbClr val="015583"/>
                </a:solidFill>
                <a:latin typeface="Calibri"/>
                <a:ea typeface="Calibri"/>
                <a:cs typeface="Calibri"/>
                <a:sym typeface="Calibri"/>
              </a:rPr>
              <a:t>LOGÍA</a:t>
            </a: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sp>
        <p:nvSpPr>
          <p:cNvPr id="4" name="Google Shape;110;p5">
            <a:extLst>
              <a:ext uri="{FF2B5EF4-FFF2-40B4-BE49-F238E27FC236}">
                <a16:creationId xmlns:a16="http://schemas.microsoft.com/office/drawing/2014/main" id="{A8AE2FB6-62B4-5F75-4F30-1315B9E10AC6}"/>
              </a:ext>
            </a:extLst>
          </p:cNvPr>
          <p:cNvSpPr txBox="1"/>
          <p:nvPr/>
        </p:nvSpPr>
        <p:spPr>
          <a:xfrm>
            <a:off x="609601" y="1089477"/>
            <a:ext cx="7422356" cy="3631723"/>
          </a:xfrm>
          <a:prstGeom prst="rect">
            <a:avLst/>
          </a:prstGeom>
          <a:noFill/>
          <a:ln>
            <a:noFill/>
          </a:ln>
        </p:spPr>
        <p:txBody>
          <a:bodyPr spcFirstLastPara="1" wrap="square" lIns="91425" tIns="45700" rIns="91425" bIns="45700" anchor="ctr" anchorCtr="0">
            <a:spAutoFit/>
          </a:bodyPr>
          <a:lstStyle/>
          <a:p>
            <a:pPr algn="just"/>
            <a:r>
              <a:rPr lang="es-CO" sz="1800" dirty="0">
                <a:latin typeface="Calibri" panose="020F0502020204030204" pitchFamily="34" charset="0"/>
                <a:cs typeface="Calibri" panose="020F0502020204030204" pitchFamily="34" charset="0"/>
              </a:rPr>
              <a:t> </a:t>
            </a:r>
            <a:r>
              <a:rPr lang="es-CO" sz="1800" b="1" dirty="0">
                <a:latin typeface="+mn-lt"/>
                <a:cs typeface="Calibri" panose="020F0502020204030204" pitchFamily="34" charset="0"/>
              </a:rPr>
              <a:t>9.-Historial semanal:</a:t>
            </a:r>
            <a:r>
              <a:rPr lang="es-CO" sz="1800" dirty="0">
                <a:latin typeface="+mn-lt"/>
                <a:cs typeface="Calibri" panose="020F0502020204030204" pitchFamily="34" charset="0"/>
              </a:rPr>
              <a:t> </a:t>
            </a:r>
            <a:endParaRPr lang="es-CO" sz="1800" dirty="0" smtClean="0">
              <a:latin typeface="+mn-lt"/>
              <a:cs typeface="Calibri" panose="020F0502020204030204" pitchFamily="34" charset="0"/>
            </a:endParaRPr>
          </a:p>
          <a:p>
            <a:pPr algn="just"/>
            <a:r>
              <a:rPr lang="es-CO" sz="1800" dirty="0" smtClean="0">
                <a:latin typeface="+mn-lt"/>
                <a:cs typeface="Calibri" panose="020F0502020204030204" pitchFamily="34" charset="0"/>
              </a:rPr>
              <a:t>en </a:t>
            </a:r>
            <a:r>
              <a:rPr lang="es-CO" sz="1800" dirty="0">
                <a:latin typeface="+mn-lt"/>
                <a:cs typeface="Calibri" panose="020F0502020204030204" pitchFamily="34" charset="0"/>
              </a:rPr>
              <a:t>el historial semanal podemos encontrar los registros semanales sobre el promedio de ruido de cada grupo adjuntado en un contenedor por día.</a:t>
            </a:r>
            <a:endParaRPr lang="en-US" sz="1800" dirty="0">
              <a:latin typeface="+mn-lt"/>
              <a:cs typeface="Calibri" panose="020F0502020204030204" pitchFamily="34" charset="0"/>
            </a:endParaRPr>
          </a:p>
          <a:p>
            <a:pPr lvl="0" algn="just"/>
            <a:endParaRPr lang="es-CO" sz="1800" dirty="0">
              <a:solidFill>
                <a:schemeClr val="dk1"/>
              </a:solidFill>
              <a:latin typeface="+mn-lt"/>
              <a:ea typeface="Calibri"/>
              <a:cs typeface="Calibri" panose="020F0502020204030204" pitchFamily="34" charset="0"/>
              <a:sym typeface="Calibri"/>
            </a:endParaRPr>
          </a:p>
          <a:p>
            <a:pPr algn="just"/>
            <a:r>
              <a:rPr lang="es-CO" sz="1800" b="1" dirty="0">
                <a:latin typeface="+mn-lt"/>
                <a:cs typeface="Calibri" panose="020F0502020204030204" pitchFamily="34" charset="0"/>
              </a:rPr>
              <a:t>10.-Analisis:</a:t>
            </a:r>
            <a:r>
              <a:rPr lang="es-CO" sz="1800" dirty="0">
                <a:latin typeface="+mn-lt"/>
                <a:cs typeface="Calibri" panose="020F0502020204030204" pitchFamily="34" charset="0"/>
              </a:rPr>
              <a:t> </a:t>
            </a:r>
            <a:endParaRPr lang="es-CO" sz="1800" dirty="0" smtClean="0">
              <a:latin typeface="+mn-lt"/>
              <a:cs typeface="Calibri" panose="020F0502020204030204" pitchFamily="34" charset="0"/>
            </a:endParaRPr>
          </a:p>
          <a:p>
            <a:pPr algn="just"/>
            <a:r>
              <a:rPr lang="es-CO" sz="1800" dirty="0" smtClean="0">
                <a:latin typeface="+mn-lt"/>
                <a:cs typeface="Calibri" panose="020F0502020204030204" pitchFamily="34" charset="0"/>
              </a:rPr>
              <a:t>en </a:t>
            </a:r>
            <a:r>
              <a:rPr lang="es-CO" sz="1800" dirty="0">
                <a:latin typeface="+mn-lt"/>
                <a:cs typeface="Calibri" panose="020F0502020204030204" pitchFamily="34" charset="0"/>
              </a:rPr>
              <a:t>el análisis podemos encontrar un apartado especialmente diseñado para el profesor, en donde tiene que ingresar en que grupo esta y el tiempo que desea tener la aplicación funcionando, al darle a iniciar medición empezara el sonómetro a medir el ruido cada cierto tiempo e ir sacando un promedio de este ruido para lo siguiente.</a:t>
            </a:r>
            <a:endParaRPr lang="en-US" sz="1800" dirty="0">
              <a:latin typeface="+mn-lt"/>
              <a:cs typeface="Calibri" panose="020F0502020204030204" pitchFamily="34" charset="0"/>
            </a:endParaRPr>
          </a:p>
          <a:p>
            <a:r>
              <a:rPr lang="es-CO" sz="1600" dirty="0">
                <a:latin typeface="+mn-lt"/>
                <a:cs typeface="Calibri" panose="020F0502020204030204" pitchFamily="34" charset="0"/>
              </a:rPr>
              <a:t> </a:t>
            </a:r>
            <a:endParaRPr lang="en-US" sz="1600" dirty="0">
              <a:latin typeface="+mn-lt"/>
              <a:cs typeface="Calibri" panose="020F0502020204030204" pitchFamily="34" charset="0"/>
            </a:endParaRPr>
          </a:p>
          <a:p>
            <a:pPr marL="0" marR="0" lvl="0" indent="0" algn="just" rtl="0">
              <a:spcBef>
                <a:spcPts val="0"/>
              </a:spcBef>
              <a:spcAft>
                <a:spcPts val="0"/>
              </a:spcAft>
              <a:buNone/>
            </a:pPr>
            <a:endParaRPr lang="es-CO" sz="1600" b="0" i="0" u="none" strike="noStrike" cap="none" dirty="0">
              <a:solidFill>
                <a:schemeClr val="dk1"/>
              </a:solidFill>
              <a:latin typeface="+mn-lt"/>
              <a:ea typeface="Calibri"/>
              <a:cs typeface="Calibri" panose="020F0502020204030204" pitchFamily="34" charset="0"/>
              <a:sym typeface="Calibri"/>
            </a:endParaRPr>
          </a:p>
        </p:txBody>
      </p:sp>
      <p:pic>
        <p:nvPicPr>
          <p:cNvPr id="2" name="image3.jpg">
            <a:extLst>
              <a:ext uri="{FF2B5EF4-FFF2-40B4-BE49-F238E27FC236}">
                <a16:creationId xmlns:a16="http://schemas.microsoft.com/office/drawing/2014/main" id="{991F2E8A-87B5-8980-B181-49289935802F}"/>
              </a:ext>
            </a:extLst>
          </p:cNvPr>
          <p:cNvPicPr/>
          <p:nvPr/>
        </p:nvPicPr>
        <p:blipFill rotWithShape="1">
          <a:blip r:embed="rId5"/>
          <a:srcRect l="75951" t="14425" b="17892"/>
          <a:stretch/>
        </p:blipFill>
        <p:spPr bwMode="auto">
          <a:xfrm>
            <a:off x="7601337" y="81877"/>
            <a:ext cx="1331171" cy="7143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001767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419552" y="205092"/>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CO" sz="3400" dirty="0">
                <a:solidFill>
                  <a:srgbClr val="015583"/>
                </a:solidFill>
                <a:latin typeface="Calibri"/>
                <a:ea typeface="Calibri"/>
                <a:cs typeface="Calibri"/>
                <a:sym typeface="Calibri"/>
              </a:rPr>
              <a:t>METODO</a:t>
            </a:r>
            <a:r>
              <a:rPr lang="es-CO" sz="3400" b="1" dirty="0">
                <a:solidFill>
                  <a:srgbClr val="015583"/>
                </a:solidFill>
                <a:latin typeface="Calibri"/>
                <a:ea typeface="Calibri"/>
                <a:cs typeface="Calibri"/>
                <a:sym typeface="Calibri"/>
              </a:rPr>
              <a:t>LOGÍA</a:t>
            </a: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sp>
        <p:nvSpPr>
          <p:cNvPr id="4" name="Google Shape;110;p5">
            <a:extLst>
              <a:ext uri="{FF2B5EF4-FFF2-40B4-BE49-F238E27FC236}">
                <a16:creationId xmlns:a16="http://schemas.microsoft.com/office/drawing/2014/main" id="{A8AE2FB6-62B4-5F75-4F30-1315B9E10AC6}"/>
              </a:ext>
            </a:extLst>
          </p:cNvPr>
          <p:cNvSpPr txBox="1"/>
          <p:nvPr/>
        </p:nvSpPr>
        <p:spPr>
          <a:xfrm>
            <a:off x="609601" y="1208235"/>
            <a:ext cx="7422356" cy="2246729"/>
          </a:xfrm>
          <a:prstGeom prst="rect">
            <a:avLst/>
          </a:prstGeom>
          <a:noFill/>
          <a:ln>
            <a:noFill/>
          </a:ln>
        </p:spPr>
        <p:txBody>
          <a:bodyPr spcFirstLastPara="1" wrap="square" lIns="91425" tIns="45700" rIns="91425" bIns="45700" anchor="ctr" anchorCtr="0">
            <a:spAutoFit/>
          </a:bodyPr>
          <a:lstStyle/>
          <a:p>
            <a:r>
              <a:rPr lang="es-CO" sz="1800" dirty="0">
                <a:latin typeface="Calibri" panose="020F0502020204030204" pitchFamily="34" charset="0"/>
                <a:cs typeface="Calibri" panose="020F0502020204030204" pitchFamily="34" charset="0"/>
              </a:rPr>
              <a:t> </a:t>
            </a:r>
            <a:r>
              <a:rPr lang="es-CO" sz="1800" b="1" dirty="0">
                <a:cs typeface="Calibri" panose="020F0502020204030204" pitchFamily="34" charset="0"/>
              </a:rPr>
              <a:t>11.-Zona resonante:</a:t>
            </a:r>
            <a:r>
              <a:rPr lang="es-CO" sz="1800" dirty="0">
                <a:cs typeface="Calibri" panose="020F0502020204030204" pitchFamily="34" charset="0"/>
              </a:rPr>
              <a:t> </a:t>
            </a:r>
            <a:endParaRPr lang="es-CO" sz="1800" dirty="0" smtClean="0">
              <a:cs typeface="Calibri" panose="020F0502020204030204" pitchFamily="34" charset="0"/>
            </a:endParaRPr>
          </a:p>
          <a:p>
            <a:pPr algn="just"/>
            <a:r>
              <a:rPr lang="es-CO" sz="1800" dirty="0" smtClean="0">
                <a:cs typeface="Calibri" panose="020F0502020204030204" pitchFamily="34" charset="0"/>
              </a:rPr>
              <a:t>en </a:t>
            </a:r>
            <a:r>
              <a:rPr lang="es-CO" sz="1800" dirty="0">
                <a:cs typeface="Calibri" panose="020F0502020204030204" pitchFamily="34" charset="0"/>
              </a:rPr>
              <a:t>la zona resonante podemos encontrar el resultado de el análisis, arriba a la derecha podemos ver el promedio de ruido en el tiempo seleccionado, en la pantalla podemos ver un personaje aleatorio y nos dejara un mensaje que concientizara a los estudiantes dependiendo del ruido provocado de estos mismos</a:t>
            </a:r>
            <a:endParaRPr lang="en-US" sz="1800" dirty="0">
              <a:cs typeface="Calibri" panose="020F0502020204030204" pitchFamily="34" charset="0"/>
            </a:endParaRPr>
          </a:p>
          <a:p>
            <a:r>
              <a:rPr lang="es-CO" sz="1600" dirty="0">
                <a:latin typeface="+mn-lt"/>
                <a:cs typeface="Calibri" panose="020F0502020204030204" pitchFamily="34" charset="0"/>
              </a:rPr>
              <a:t> </a:t>
            </a:r>
            <a:endParaRPr lang="en-US" sz="1600" dirty="0">
              <a:latin typeface="+mn-lt"/>
              <a:cs typeface="Calibri" panose="020F0502020204030204" pitchFamily="34" charset="0"/>
            </a:endParaRPr>
          </a:p>
          <a:p>
            <a:pPr marL="0" marR="0" lvl="0" indent="0" algn="just" rtl="0">
              <a:spcBef>
                <a:spcPts val="0"/>
              </a:spcBef>
              <a:spcAft>
                <a:spcPts val="0"/>
              </a:spcAft>
              <a:buNone/>
            </a:pPr>
            <a:endParaRPr lang="es-CO" sz="1600" b="0" i="0" u="none" strike="noStrike" cap="none" dirty="0">
              <a:solidFill>
                <a:schemeClr val="dk1"/>
              </a:solidFill>
              <a:latin typeface="+mn-lt"/>
              <a:ea typeface="Calibri"/>
              <a:cs typeface="Calibri" panose="020F0502020204030204" pitchFamily="34" charset="0"/>
              <a:sym typeface="Calibri"/>
            </a:endParaRPr>
          </a:p>
        </p:txBody>
      </p:sp>
      <p:pic>
        <p:nvPicPr>
          <p:cNvPr id="2" name="image3.jpg">
            <a:extLst>
              <a:ext uri="{FF2B5EF4-FFF2-40B4-BE49-F238E27FC236}">
                <a16:creationId xmlns:a16="http://schemas.microsoft.com/office/drawing/2014/main" id="{991F2E8A-87B5-8980-B181-49289935802F}"/>
              </a:ext>
            </a:extLst>
          </p:cNvPr>
          <p:cNvPicPr/>
          <p:nvPr/>
        </p:nvPicPr>
        <p:blipFill rotWithShape="1">
          <a:blip r:embed="rId5"/>
          <a:srcRect l="75951" t="14425" b="17892"/>
          <a:stretch/>
        </p:blipFill>
        <p:spPr bwMode="auto">
          <a:xfrm>
            <a:off x="7601337" y="81877"/>
            <a:ext cx="1331171" cy="7143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017094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437087" y="1022596"/>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ES" sz="2800" dirty="0">
                <a:solidFill>
                  <a:srgbClr val="015583"/>
                </a:solidFill>
                <a:latin typeface="Calibri"/>
                <a:ea typeface="Calibri"/>
                <a:cs typeface="Calibri"/>
                <a:sym typeface="Calibri"/>
              </a:rPr>
              <a:t>R</a:t>
            </a:r>
            <a:r>
              <a:rPr lang="es-CO" sz="2800" dirty="0">
                <a:solidFill>
                  <a:srgbClr val="015583"/>
                </a:solidFill>
                <a:latin typeface="Calibri"/>
                <a:ea typeface="Calibri"/>
                <a:cs typeface="Calibri"/>
                <a:sym typeface="Calibri"/>
              </a:rPr>
              <a:t>ESULTADOS Y PRODU</a:t>
            </a:r>
            <a:r>
              <a:rPr lang="es-CO" sz="2800" b="1" dirty="0">
                <a:solidFill>
                  <a:srgbClr val="015583"/>
                </a:solidFill>
                <a:latin typeface="Calibri"/>
                <a:ea typeface="Calibri"/>
                <a:cs typeface="Calibri"/>
                <a:sym typeface="Calibri"/>
              </a:rPr>
              <a:t>CTOS ESPERADOS</a:t>
            </a: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sp>
        <p:nvSpPr>
          <p:cNvPr id="4" name="Google Shape;110;p5">
            <a:extLst>
              <a:ext uri="{FF2B5EF4-FFF2-40B4-BE49-F238E27FC236}">
                <a16:creationId xmlns:a16="http://schemas.microsoft.com/office/drawing/2014/main" id="{A8AE2FB6-62B4-5F75-4F30-1315B9E10AC6}"/>
              </a:ext>
            </a:extLst>
          </p:cNvPr>
          <p:cNvSpPr txBox="1"/>
          <p:nvPr/>
        </p:nvSpPr>
        <p:spPr>
          <a:xfrm>
            <a:off x="725459" y="1885219"/>
            <a:ext cx="7422356" cy="2831504"/>
          </a:xfrm>
          <a:prstGeom prst="rect">
            <a:avLst/>
          </a:prstGeom>
          <a:noFill/>
          <a:ln>
            <a:noFill/>
          </a:ln>
        </p:spPr>
        <p:txBody>
          <a:bodyPr spcFirstLastPara="1" wrap="square" lIns="91425" tIns="45700" rIns="91425" bIns="45700" anchor="t" anchorCtr="0">
            <a:spAutoFit/>
          </a:bodyPr>
          <a:lstStyle/>
          <a:p>
            <a:pPr algn="just"/>
            <a:r>
              <a:rPr lang="es-MX" sz="1800" dirty="0">
                <a:latin typeface="+mn-lt"/>
                <a:cs typeface="Calibri" panose="020F0502020204030204" pitchFamily="34" charset="0"/>
              </a:rPr>
              <a:t>Se espera la creación de una aplicación interactiva funcional que actúe como un termómetro social del ruido, entregando al colegio tanto un mapa de diagnóstico acústico como una herramienta de visualización en tiempo real para las aulas. El resultado final es un sistema integral que combina datos técnicos (reportes y estadísticas) con recursos pedagógicos (personajes dinámicos y campañas de mitigación) para transformar el comportamiento estudiantil, logrando que el silencio pase de ser una imposición a un ejercicio de autorregulación colectiva y mejora del ambiente académico.</a:t>
            </a:r>
          </a:p>
          <a:p>
            <a:pPr marL="0" marR="0" lvl="0" indent="0" algn="just" rtl="0">
              <a:spcBef>
                <a:spcPts val="0"/>
              </a:spcBef>
              <a:spcAft>
                <a:spcPts val="0"/>
              </a:spcAft>
              <a:buNone/>
            </a:pPr>
            <a:endParaRPr lang="es-CO" sz="1600" b="0" i="0" u="none" strike="noStrike" cap="none" dirty="0">
              <a:solidFill>
                <a:schemeClr val="dk1"/>
              </a:solidFill>
              <a:latin typeface="+mn-lt"/>
              <a:ea typeface="Calibri"/>
              <a:cs typeface="Calibri" panose="020F0502020204030204" pitchFamily="34" charset="0"/>
              <a:sym typeface="Calibri"/>
            </a:endParaRPr>
          </a:p>
        </p:txBody>
      </p:sp>
      <p:pic>
        <p:nvPicPr>
          <p:cNvPr id="2" name="image3.jpg">
            <a:extLst>
              <a:ext uri="{FF2B5EF4-FFF2-40B4-BE49-F238E27FC236}">
                <a16:creationId xmlns:a16="http://schemas.microsoft.com/office/drawing/2014/main" id="{F09F653C-4155-EB92-C018-3EEE9E7FD3EA}"/>
              </a:ext>
            </a:extLst>
          </p:cNvPr>
          <p:cNvPicPr/>
          <p:nvPr/>
        </p:nvPicPr>
        <p:blipFill rotWithShape="1">
          <a:blip r:embed="rId5"/>
          <a:srcRect l="75951" t="14425" b="17892"/>
          <a:stretch/>
        </p:blipFill>
        <p:spPr bwMode="auto">
          <a:xfrm>
            <a:off x="7601337" y="75657"/>
            <a:ext cx="1331171" cy="7143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36701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602237" y="1049441"/>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ES" sz="2800" dirty="0">
                <a:solidFill>
                  <a:srgbClr val="015583"/>
                </a:solidFill>
                <a:latin typeface="Calibri"/>
                <a:ea typeface="Calibri"/>
                <a:cs typeface="Calibri"/>
                <a:sym typeface="Calibri"/>
              </a:rPr>
              <a:t>CRONO</a:t>
            </a:r>
            <a:r>
              <a:rPr lang="es-ES" sz="2800" b="1" dirty="0">
                <a:solidFill>
                  <a:srgbClr val="015583"/>
                </a:solidFill>
                <a:latin typeface="Calibri"/>
                <a:ea typeface="Calibri"/>
                <a:cs typeface="Calibri"/>
                <a:sym typeface="Calibri"/>
              </a:rPr>
              <a:t>GRAMA</a:t>
            </a:r>
            <a:endParaRPr lang="es-CO" sz="2800" b="1" dirty="0">
              <a:solidFill>
                <a:srgbClr val="015583"/>
              </a:solidFill>
              <a:latin typeface="Calibri"/>
              <a:ea typeface="Calibri"/>
              <a:cs typeface="Calibri"/>
              <a:sym typeface="Calibri"/>
            </a:endParaRP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pic>
        <p:nvPicPr>
          <p:cNvPr id="2" name="image3.jpg">
            <a:extLst>
              <a:ext uri="{FF2B5EF4-FFF2-40B4-BE49-F238E27FC236}">
                <a16:creationId xmlns:a16="http://schemas.microsoft.com/office/drawing/2014/main" id="{EDF22F87-D309-3D63-BD99-560DC08BD351}"/>
              </a:ext>
            </a:extLst>
          </p:cNvPr>
          <p:cNvPicPr/>
          <p:nvPr/>
        </p:nvPicPr>
        <p:blipFill rotWithShape="1">
          <a:blip r:embed="rId5"/>
          <a:srcRect l="75951" t="14425" b="17892"/>
          <a:stretch/>
        </p:blipFill>
        <p:spPr bwMode="auto">
          <a:xfrm>
            <a:off x="7601337" y="75657"/>
            <a:ext cx="1331171" cy="714335"/>
          </a:xfrm>
          <a:prstGeom prst="rect">
            <a:avLst/>
          </a:prstGeom>
          <a:ln>
            <a:noFill/>
          </a:ln>
          <a:extLst>
            <a:ext uri="{53640926-AAD7-44D8-BBD7-CCE9431645EC}">
              <a14:shadowObscured xmlns:a14="http://schemas.microsoft.com/office/drawing/2010/main"/>
            </a:ext>
          </a:extLst>
        </p:spPr>
      </p:pic>
      <p:pic>
        <p:nvPicPr>
          <p:cNvPr id="4" name="Imagen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1728628"/>
            <a:ext cx="9144000" cy="1987211"/>
          </a:xfrm>
          <a:prstGeom prst="rect">
            <a:avLst/>
          </a:prstGeom>
        </p:spPr>
      </p:pic>
    </p:spTree>
    <p:extLst>
      <p:ext uri="{BB962C8B-B14F-4D97-AF65-F5344CB8AC3E}">
        <p14:creationId xmlns:p14="http://schemas.microsoft.com/office/powerpoint/2010/main" val="318643954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385132" y="184970"/>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ES" sz="2800" dirty="0">
                <a:solidFill>
                  <a:srgbClr val="015583"/>
                </a:solidFill>
                <a:latin typeface="Calibri"/>
                <a:ea typeface="Calibri"/>
                <a:cs typeface="Calibri"/>
                <a:sym typeface="Calibri"/>
              </a:rPr>
              <a:t>BIBLIO</a:t>
            </a:r>
            <a:r>
              <a:rPr lang="es-ES" sz="2800" b="1" dirty="0">
                <a:solidFill>
                  <a:srgbClr val="015583"/>
                </a:solidFill>
                <a:latin typeface="Calibri"/>
                <a:ea typeface="Calibri"/>
                <a:cs typeface="Calibri"/>
                <a:sym typeface="Calibri"/>
              </a:rPr>
              <a:t>GRAFÍA</a:t>
            </a:r>
            <a:endParaRPr lang="es-CO" sz="2800" b="1" dirty="0">
              <a:solidFill>
                <a:srgbClr val="015583"/>
              </a:solidFill>
              <a:latin typeface="Calibri"/>
              <a:ea typeface="Calibri"/>
              <a:cs typeface="Calibri"/>
              <a:sym typeface="Calibri"/>
            </a:endParaRP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sp>
        <p:nvSpPr>
          <p:cNvPr id="4" name="Google Shape;110;p5">
            <a:extLst>
              <a:ext uri="{FF2B5EF4-FFF2-40B4-BE49-F238E27FC236}">
                <a16:creationId xmlns:a16="http://schemas.microsoft.com/office/drawing/2014/main" id="{A8AE2FB6-62B4-5F75-4F30-1315B9E10AC6}"/>
              </a:ext>
            </a:extLst>
          </p:cNvPr>
          <p:cNvSpPr txBox="1"/>
          <p:nvPr/>
        </p:nvSpPr>
        <p:spPr>
          <a:xfrm>
            <a:off x="844566" y="700376"/>
            <a:ext cx="7422356" cy="3693278"/>
          </a:xfrm>
          <a:prstGeom prst="rect">
            <a:avLst/>
          </a:prstGeom>
          <a:noFill/>
          <a:ln>
            <a:noFill/>
          </a:ln>
        </p:spPr>
        <p:txBody>
          <a:bodyPr spcFirstLastPara="1" wrap="square" lIns="91425" tIns="45700" rIns="91425" bIns="45700" anchor="t" anchorCtr="0">
            <a:spAutoFit/>
          </a:bodyPr>
          <a:lstStyle/>
          <a:p>
            <a:pPr algn="just"/>
            <a:r>
              <a:rPr lang="es-CO" sz="1800" dirty="0"/>
              <a:t> </a:t>
            </a:r>
            <a:endParaRPr lang="en-US" sz="1800" dirty="0"/>
          </a:p>
          <a:p>
            <a:pPr algn="just"/>
            <a:r>
              <a:rPr lang="es-CO" sz="1800" dirty="0"/>
              <a:t>TooNoisyApp (2025) </a:t>
            </a:r>
            <a:r>
              <a:rPr lang="es-CO" sz="1800" dirty="0" smtClean="0"/>
              <a:t>recuperado de:  </a:t>
            </a:r>
            <a:r>
              <a:rPr lang="es-CO" sz="1800" dirty="0"/>
              <a:t>https://toonoisyapp.com/ IMG_1: https://toonoisyapp.com/wp-content/uploads/2024/02/ears-etm-logo-600x150-1.jpg</a:t>
            </a:r>
            <a:endParaRPr lang="en-US" sz="1800" dirty="0"/>
          </a:p>
          <a:p>
            <a:pPr algn="just"/>
            <a:r>
              <a:rPr lang="es-CO" sz="1800" dirty="0"/>
              <a:t> </a:t>
            </a:r>
            <a:endParaRPr lang="en-US" sz="1800" dirty="0"/>
          </a:p>
          <a:p>
            <a:pPr algn="just"/>
            <a:r>
              <a:rPr lang="es-CO" sz="1800" dirty="0"/>
              <a:t>ClassDojo (</a:t>
            </a:r>
            <a:r>
              <a:rPr lang="es-CO" sz="1800" dirty="0" smtClean="0"/>
              <a:t>2025) recuperado de: </a:t>
            </a:r>
            <a:r>
              <a:rPr lang="es-CO" sz="1800" dirty="0"/>
              <a:t>https://www.classdojo.com/es-es/ IMG_2: https://new-external.classdojo.com/classdojo-logo.png</a:t>
            </a:r>
            <a:endParaRPr lang="en-US" sz="1800" dirty="0"/>
          </a:p>
          <a:p>
            <a:pPr algn="just"/>
            <a:r>
              <a:rPr lang="es-CO" sz="1800" dirty="0"/>
              <a:t> </a:t>
            </a:r>
            <a:endParaRPr lang="en-US" sz="1800" dirty="0"/>
          </a:p>
          <a:p>
            <a:pPr algn="just"/>
            <a:r>
              <a:rPr lang="es-CO" sz="1800" dirty="0"/>
              <a:t>SoundPrint (</a:t>
            </a:r>
            <a:r>
              <a:rPr lang="es-CO" sz="1800" dirty="0" smtClean="0"/>
              <a:t>2021) recuperado de: https</a:t>
            </a:r>
            <a:r>
              <a:rPr lang="es-CO" sz="1800" dirty="0"/>
              <a:t>://www.soundprint.co/ IMG_3: https://play-lh.googleusercontent.com/pYeliYFmfnPkeL4ENbvKFBJCxNDhlTJES8-duJgNkPB73T2TMBlc_JAfYXsU9X4EnQ</a:t>
            </a:r>
            <a:endParaRPr lang="en-US" sz="1800" dirty="0"/>
          </a:p>
          <a:p>
            <a:pPr algn="just"/>
            <a:r>
              <a:rPr lang="es-CO" sz="1800" dirty="0"/>
              <a:t> </a:t>
            </a:r>
            <a:endParaRPr lang="es-CO" sz="12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p:txBody>
      </p:sp>
      <p:pic>
        <p:nvPicPr>
          <p:cNvPr id="2" name="image3.jpg">
            <a:extLst>
              <a:ext uri="{FF2B5EF4-FFF2-40B4-BE49-F238E27FC236}">
                <a16:creationId xmlns:a16="http://schemas.microsoft.com/office/drawing/2014/main" id="{34D2BEB8-8839-8BBE-F48F-EB12265410F1}"/>
              </a:ext>
            </a:extLst>
          </p:cNvPr>
          <p:cNvPicPr/>
          <p:nvPr/>
        </p:nvPicPr>
        <p:blipFill rotWithShape="1">
          <a:blip r:embed="rId5"/>
          <a:srcRect l="75951" t="14425" b="17892"/>
          <a:stretch/>
        </p:blipFill>
        <p:spPr bwMode="auto">
          <a:xfrm>
            <a:off x="7601337" y="75657"/>
            <a:ext cx="1331171" cy="7143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16228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385132" y="184970"/>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ES" sz="2800" dirty="0">
                <a:solidFill>
                  <a:srgbClr val="015583"/>
                </a:solidFill>
                <a:latin typeface="Calibri"/>
                <a:ea typeface="Calibri"/>
                <a:cs typeface="Calibri"/>
                <a:sym typeface="Calibri"/>
              </a:rPr>
              <a:t>BIBLIO</a:t>
            </a:r>
            <a:r>
              <a:rPr lang="es-ES" sz="2800" b="1" dirty="0">
                <a:solidFill>
                  <a:srgbClr val="015583"/>
                </a:solidFill>
                <a:latin typeface="Calibri"/>
                <a:ea typeface="Calibri"/>
                <a:cs typeface="Calibri"/>
                <a:sym typeface="Calibri"/>
              </a:rPr>
              <a:t>GRAFÍA</a:t>
            </a:r>
            <a:endParaRPr lang="es-CO" sz="2800" b="1" dirty="0">
              <a:solidFill>
                <a:srgbClr val="015583"/>
              </a:solidFill>
              <a:latin typeface="Calibri"/>
              <a:ea typeface="Calibri"/>
              <a:cs typeface="Calibri"/>
              <a:sym typeface="Calibri"/>
            </a:endParaRP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sp>
        <p:nvSpPr>
          <p:cNvPr id="4" name="Google Shape;110;p5">
            <a:extLst>
              <a:ext uri="{FF2B5EF4-FFF2-40B4-BE49-F238E27FC236}">
                <a16:creationId xmlns:a16="http://schemas.microsoft.com/office/drawing/2014/main" id="{A8AE2FB6-62B4-5F75-4F30-1315B9E10AC6}"/>
              </a:ext>
            </a:extLst>
          </p:cNvPr>
          <p:cNvSpPr txBox="1"/>
          <p:nvPr/>
        </p:nvSpPr>
        <p:spPr>
          <a:xfrm>
            <a:off x="844566" y="789992"/>
            <a:ext cx="7422356" cy="3600945"/>
          </a:xfrm>
          <a:prstGeom prst="rect">
            <a:avLst/>
          </a:prstGeom>
          <a:noFill/>
          <a:ln>
            <a:noFill/>
          </a:ln>
        </p:spPr>
        <p:txBody>
          <a:bodyPr spcFirstLastPara="1" wrap="square" lIns="91425" tIns="45700" rIns="91425" bIns="45700" anchor="t" anchorCtr="0">
            <a:spAutoFit/>
          </a:bodyPr>
          <a:lstStyle/>
          <a:p>
            <a:pPr algn="just"/>
            <a:r>
              <a:rPr lang="es-CO" sz="1800" dirty="0"/>
              <a:t> </a:t>
            </a:r>
            <a:endParaRPr lang="en-US" sz="1800" dirty="0" smtClean="0"/>
          </a:p>
          <a:p>
            <a:r>
              <a:rPr lang="es-CO" sz="1800" dirty="0" smtClean="0"/>
              <a:t>DecibelMeterUltra </a:t>
            </a:r>
            <a:r>
              <a:rPr lang="es-CO" sz="1800" dirty="0"/>
              <a:t>(2024) recuperado de: https://www.decibelmeterultra.com/ IMG_4: https://www.decibelmeterultra.com/assets/images/icon-1024.svg</a:t>
            </a:r>
            <a:endParaRPr lang="en-US" sz="1800" dirty="0"/>
          </a:p>
          <a:p>
            <a:r>
              <a:rPr lang="es-CO" sz="1800" dirty="0"/>
              <a:t> </a:t>
            </a:r>
            <a:endParaRPr lang="en-US" sz="1800" dirty="0"/>
          </a:p>
          <a:p>
            <a:r>
              <a:rPr lang="es-CO" sz="1800" dirty="0"/>
              <a:t>DBMeter (2019) recuperado de: https://rapasae.me/dbmeter/ IMG_5: https://rapasae.me/dbmeter/imagenes/app.jpg</a:t>
            </a:r>
            <a:endParaRPr lang="en-US" sz="1800" dirty="0"/>
          </a:p>
          <a:p>
            <a:r>
              <a:rPr lang="es-CO" sz="1800" dirty="0"/>
              <a:t> </a:t>
            </a:r>
            <a:endParaRPr lang="en-US" sz="1800" dirty="0"/>
          </a:p>
          <a:p>
            <a:r>
              <a:rPr lang="es-CO" sz="1800" dirty="0" smtClean="0"/>
              <a:t>DecibelMeter </a:t>
            </a:r>
            <a:r>
              <a:rPr lang="es-CO" sz="1800" dirty="0"/>
              <a:t>(2023) recuperado de: https://geniustoolslabs.com/decibelmeter/ IMG_6: https://geniustoolslabs.com/images/decibelmeter/icon.png</a:t>
            </a:r>
            <a:endParaRPr lang="en-US" sz="1800" dirty="0"/>
          </a:p>
          <a:p>
            <a:pPr lvl="0" algn="just"/>
            <a:endParaRPr lang="es-CO" sz="1200" dirty="0">
              <a:solidFill>
                <a:schemeClr val="dk1"/>
              </a:solidFill>
              <a:latin typeface="Calibri" panose="020F0502020204030204" pitchFamily="34" charset="0"/>
              <a:ea typeface="Calibri"/>
              <a:cs typeface="Calibri" panose="020F0502020204030204" pitchFamily="34" charset="0"/>
              <a:sym typeface="Calibri"/>
            </a:endParaRPr>
          </a:p>
          <a:p>
            <a:pPr algn="just"/>
            <a:r>
              <a:rPr lang="es-CO" sz="1800" dirty="0"/>
              <a:t> </a:t>
            </a:r>
            <a:endParaRPr lang="es-CO" sz="12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p:txBody>
      </p:sp>
      <p:pic>
        <p:nvPicPr>
          <p:cNvPr id="2" name="image3.jpg">
            <a:extLst>
              <a:ext uri="{FF2B5EF4-FFF2-40B4-BE49-F238E27FC236}">
                <a16:creationId xmlns:a16="http://schemas.microsoft.com/office/drawing/2014/main" id="{34D2BEB8-8839-8BBE-F48F-EB12265410F1}"/>
              </a:ext>
            </a:extLst>
          </p:cNvPr>
          <p:cNvPicPr/>
          <p:nvPr/>
        </p:nvPicPr>
        <p:blipFill rotWithShape="1">
          <a:blip r:embed="rId5"/>
          <a:srcRect l="75951" t="14425" b="17892"/>
          <a:stretch/>
        </p:blipFill>
        <p:spPr bwMode="auto">
          <a:xfrm>
            <a:off x="7601337" y="75657"/>
            <a:ext cx="1331171" cy="7143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596076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2"/>
        <p:cNvGrpSpPr/>
        <p:nvPr/>
      </p:nvGrpSpPr>
      <p:grpSpPr>
        <a:xfrm>
          <a:off x="0" y="0"/>
          <a:ext cx="0" cy="0"/>
          <a:chOff x="0" y="0"/>
          <a:chExt cx="0" cy="0"/>
        </a:xfrm>
      </p:grpSpPr>
      <p:sp>
        <p:nvSpPr>
          <p:cNvPr id="656" name="Google Shape;656;p22"/>
          <p:cNvSpPr/>
          <p:nvPr/>
        </p:nvSpPr>
        <p:spPr>
          <a:xfrm>
            <a:off x="4768525" y="2956222"/>
            <a:ext cx="1293300" cy="1293300"/>
          </a:xfrm>
          <a:prstGeom prst="ellipse">
            <a:avLst/>
          </a:prstGeom>
          <a:solidFill>
            <a:srgbClr val="ACE57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59" name="Google Shape;659;p22"/>
          <p:cNvPicPr preferRelativeResize="0"/>
          <p:nvPr/>
        </p:nvPicPr>
        <p:blipFill rotWithShape="1">
          <a:blip r:embed="rId4">
            <a:alphaModFix/>
          </a:blip>
          <a:srcRect/>
          <a:stretch/>
        </p:blipFill>
        <p:spPr>
          <a:xfrm>
            <a:off x="7910194" y="3867257"/>
            <a:ext cx="826981" cy="128237"/>
          </a:xfrm>
          <a:prstGeom prst="rect">
            <a:avLst/>
          </a:prstGeom>
          <a:noFill/>
          <a:ln>
            <a:noFill/>
          </a:ln>
        </p:spPr>
      </p:pic>
      <p:sp>
        <p:nvSpPr>
          <p:cNvPr id="660" name="Google Shape;660;p22"/>
          <p:cNvSpPr txBox="1"/>
          <p:nvPr/>
        </p:nvSpPr>
        <p:spPr>
          <a:xfrm>
            <a:off x="678450" y="806098"/>
            <a:ext cx="3810000" cy="11697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ES" sz="3400" b="0" i="0" u="none" strike="noStrike" cap="none" dirty="0">
                <a:solidFill>
                  <a:srgbClr val="015583"/>
                </a:solidFill>
                <a:latin typeface="Calibri"/>
                <a:ea typeface="Calibri"/>
                <a:cs typeface="Calibri"/>
                <a:sym typeface="Calibri"/>
              </a:rPr>
              <a:t>INTEGRANTES DEL GRUPO</a:t>
            </a:r>
            <a:endParaRPr sz="3400" b="1" i="0" u="none" strike="noStrike" cap="none" dirty="0">
              <a:solidFill>
                <a:srgbClr val="015583"/>
              </a:solidFill>
              <a:latin typeface="Calibri"/>
              <a:ea typeface="Calibri"/>
              <a:cs typeface="Calibri"/>
              <a:sym typeface="Calibri"/>
            </a:endParaRPr>
          </a:p>
        </p:txBody>
      </p:sp>
      <p:sp>
        <p:nvSpPr>
          <p:cNvPr id="661" name="Google Shape;661;p22"/>
          <p:cNvSpPr txBox="1"/>
          <p:nvPr/>
        </p:nvSpPr>
        <p:spPr>
          <a:xfrm>
            <a:off x="632963" y="2213928"/>
            <a:ext cx="4229982" cy="1015632"/>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s" sz="1800" dirty="0" smtClean="0">
                <a:solidFill>
                  <a:srgbClr val="201F4B"/>
                </a:solidFill>
                <a:latin typeface="Calibri"/>
                <a:ea typeface="Calibri"/>
                <a:cs typeface="Calibri"/>
                <a:sym typeface="Calibri"/>
              </a:rPr>
              <a:t>Sebastían Alejandro Chica Arias</a:t>
            </a:r>
            <a:endParaRPr lang="es" sz="1800" dirty="0">
              <a:solidFill>
                <a:srgbClr val="201F4B"/>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1600"/>
              <a:buFont typeface="Arial"/>
              <a:buNone/>
            </a:pPr>
            <a:r>
              <a:rPr lang="es" sz="1800" dirty="0" smtClean="0">
                <a:solidFill>
                  <a:srgbClr val="201F4B"/>
                </a:solidFill>
                <a:latin typeface="Calibri"/>
                <a:ea typeface="Calibri"/>
                <a:cs typeface="Calibri"/>
                <a:sym typeface="Calibri"/>
              </a:rPr>
              <a:t>Samuel Caceres Alzate</a:t>
            </a:r>
          </a:p>
          <a:p>
            <a:pPr marL="0" marR="0" lvl="0" indent="0" algn="just" rtl="0">
              <a:lnSpc>
                <a:spcPct val="100000"/>
              </a:lnSpc>
              <a:spcBef>
                <a:spcPts val="0"/>
              </a:spcBef>
              <a:spcAft>
                <a:spcPts val="0"/>
              </a:spcAft>
              <a:buClr>
                <a:srgbClr val="000000"/>
              </a:buClr>
              <a:buSzPts val="1600"/>
              <a:buFont typeface="Arial"/>
              <a:buNone/>
            </a:pPr>
            <a:r>
              <a:rPr lang="es" sz="1800" dirty="0" smtClean="0">
                <a:solidFill>
                  <a:srgbClr val="201F4B"/>
                </a:solidFill>
                <a:latin typeface="Calibri"/>
                <a:ea typeface="Calibri"/>
                <a:cs typeface="Calibri"/>
                <a:sym typeface="Calibri"/>
              </a:rPr>
              <a:t>Mariangel Fernandez Pabon</a:t>
            </a:r>
            <a:endParaRPr lang="es" sz="1800" dirty="0">
              <a:solidFill>
                <a:srgbClr val="201F4B"/>
              </a:solidFill>
              <a:latin typeface="Calibri"/>
              <a:ea typeface="Calibri"/>
              <a:cs typeface="Calibri"/>
              <a:sym typeface="Calibri"/>
            </a:endParaRPr>
          </a:p>
        </p:txBody>
      </p:sp>
      <p:sp>
        <p:nvSpPr>
          <p:cNvPr id="664" name="Google Shape;664;p22"/>
          <p:cNvSpPr txBox="1"/>
          <p:nvPr/>
        </p:nvSpPr>
        <p:spPr>
          <a:xfrm>
            <a:off x="882375" y="3873925"/>
            <a:ext cx="866100" cy="267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s" sz="1900" b="1" i="0" u="none" strike="noStrike" cap="none">
                <a:solidFill>
                  <a:schemeClr val="lt1"/>
                </a:solidFill>
                <a:latin typeface="Arial"/>
                <a:ea typeface="Arial"/>
                <a:cs typeface="Arial"/>
                <a:sym typeface="Arial"/>
              </a:rPr>
              <a:t>XX</a:t>
            </a:r>
            <a:endParaRPr sz="1900" b="1" i="0" u="none" strike="noStrike" cap="none">
              <a:solidFill>
                <a:schemeClr val="lt1"/>
              </a:solidFill>
              <a:latin typeface="Arial"/>
              <a:ea typeface="Arial"/>
              <a:cs typeface="Arial"/>
              <a:sym typeface="Arial"/>
            </a:endParaRPr>
          </a:p>
        </p:txBody>
      </p:sp>
      <p:pic>
        <p:nvPicPr>
          <p:cNvPr id="2" name="image3.jpg">
            <a:extLst>
              <a:ext uri="{FF2B5EF4-FFF2-40B4-BE49-F238E27FC236}">
                <a16:creationId xmlns:a16="http://schemas.microsoft.com/office/drawing/2014/main" id="{5A767EC3-0C2B-27D0-A6FC-572AE869C041}"/>
              </a:ext>
            </a:extLst>
          </p:cNvPr>
          <p:cNvPicPr/>
          <p:nvPr/>
        </p:nvPicPr>
        <p:blipFill rotWithShape="1">
          <a:blip r:embed="rId5"/>
          <a:srcRect l="75951" t="14425" b="17892"/>
          <a:stretch/>
        </p:blipFill>
        <p:spPr bwMode="auto">
          <a:xfrm>
            <a:off x="7601337" y="75657"/>
            <a:ext cx="1331171" cy="714335"/>
          </a:xfrm>
          <a:prstGeom prst="rect">
            <a:avLst/>
          </a:prstGeom>
          <a:ln>
            <a:noFill/>
          </a:ln>
          <a:extLst>
            <a:ext uri="{53640926-AAD7-44D8-BBD7-CCE9431645EC}">
              <a14:shadowObscured xmlns:a14="http://schemas.microsoft.com/office/drawing/2010/main"/>
            </a:ext>
          </a:extLst>
        </p:spPr>
      </p:pic>
      <p:sp>
        <p:nvSpPr>
          <p:cNvPr id="11" name="Google Shape;656;p22"/>
          <p:cNvSpPr/>
          <p:nvPr/>
        </p:nvSpPr>
        <p:spPr>
          <a:xfrm>
            <a:off x="4798964" y="1060380"/>
            <a:ext cx="2986523" cy="2947195"/>
          </a:xfrm>
          <a:prstGeom prst="ellipse">
            <a:avLst/>
          </a:prstGeom>
          <a:solidFill>
            <a:srgbClr val="ACE57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 name="Imagen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74175" y="580538"/>
            <a:ext cx="4546856" cy="4546856"/>
          </a:xfrm>
          <a:prstGeom prst="rect">
            <a:avLst/>
          </a:prstGeom>
        </p:spPr>
      </p:pic>
      <p:pic>
        <p:nvPicPr>
          <p:cNvPr id="4" name="Imagen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86601" y="1101563"/>
            <a:ext cx="4025831" cy="4025831"/>
          </a:xfrm>
          <a:prstGeom prst="rect">
            <a:avLst/>
          </a:prstGeom>
        </p:spPr>
      </p:pic>
      <p:pic>
        <p:nvPicPr>
          <p:cNvPr id="3" name="Imagen 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462335" y="948618"/>
            <a:ext cx="4194882" cy="4194882"/>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46"/>
        <p:cNvGrpSpPr/>
        <p:nvPr/>
      </p:nvGrpSpPr>
      <p:grpSpPr>
        <a:xfrm>
          <a:off x="0" y="0"/>
          <a:ext cx="0" cy="0"/>
          <a:chOff x="0" y="0"/>
          <a:chExt cx="0" cy="0"/>
        </a:xfrm>
      </p:grpSpPr>
      <p:pic>
        <p:nvPicPr>
          <p:cNvPr id="2" name="image3.jpg">
            <a:extLst>
              <a:ext uri="{FF2B5EF4-FFF2-40B4-BE49-F238E27FC236}">
                <a16:creationId xmlns:a16="http://schemas.microsoft.com/office/drawing/2014/main" id="{AA2B868A-41CF-6C4D-1FD6-6278E87C849E}"/>
              </a:ext>
            </a:extLst>
          </p:cNvPr>
          <p:cNvPicPr/>
          <p:nvPr/>
        </p:nvPicPr>
        <p:blipFill rotWithShape="1">
          <a:blip r:embed="rId4"/>
          <a:srcRect l="75951" t="14425" b="17892"/>
          <a:stretch/>
        </p:blipFill>
        <p:spPr bwMode="auto">
          <a:xfrm>
            <a:off x="7595116" y="106759"/>
            <a:ext cx="1331171" cy="714335"/>
          </a:xfrm>
          <a:prstGeom prst="rect">
            <a:avLst/>
          </a:prstGeom>
          <a:ln>
            <a:noFill/>
          </a:ln>
          <a:extLst>
            <a:ext uri="{53640926-AAD7-44D8-BBD7-CCE9431645EC}">
              <a14:shadowObscured xmlns:a14="http://schemas.microsoft.com/office/drawing/2010/main"/>
            </a:ext>
          </a:extLst>
        </p:spPr>
      </p:pic>
      <p:sp>
        <p:nvSpPr>
          <p:cNvPr id="3" name="CuadroTexto 2">
            <a:extLst>
              <a:ext uri="{FF2B5EF4-FFF2-40B4-BE49-F238E27FC236}">
                <a16:creationId xmlns:a16="http://schemas.microsoft.com/office/drawing/2014/main" id="{CF6FD4A4-6F4B-3E48-6660-19B52ECBAFD6}"/>
              </a:ext>
            </a:extLst>
          </p:cNvPr>
          <p:cNvSpPr txBox="1"/>
          <p:nvPr/>
        </p:nvSpPr>
        <p:spPr>
          <a:xfrm>
            <a:off x="1822580" y="3293225"/>
            <a:ext cx="3087286" cy="40011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 sz="2000" b="1" dirty="0">
                <a:latin typeface="Calibri" panose="020F0502020204030204" pitchFamily="34" charset="0"/>
                <a:cs typeface="Calibri" panose="020F0502020204030204" pitchFamily="34" charset="0"/>
              </a:rPr>
              <a:t>    Formar- Servir - Cuidar</a:t>
            </a:r>
            <a:endParaRPr lang="es-CO" sz="2000" b="1" dirty="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15583"/>
      </a:dk1>
      <a:lt1>
        <a:srgbClr val="FFFFFF"/>
      </a:lt1>
      <a:dk2>
        <a:srgbClr val="434343"/>
      </a:dk2>
      <a:lt2>
        <a:srgbClr val="EEEEEE"/>
      </a:lt2>
      <a:accent1>
        <a:srgbClr val="05ADBC"/>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TotalTime>
  <Words>570</Words>
  <Application>Microsoft Office PowerPoint</Application>
  <PresentationFormat>Presentación en pantalla (16:9)</PresentationFormat>
  <Paragraphs>105</Paragraphs>
  <Slides>20</Slides>
  <Notes>20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20</vt:i4>
      </vt:variant>
    </vt:vector>
  </HeadingPairs>
  <TitlesOfParts>
    <vt:vector size="27" baseType="lpstr">
      <vt:lpstr>Arial</vt:lpstr>
      <vt:lpstr>Times New Roman</vt:lpstr>
      <vt:lpstr>Calibri Light</vt:lpstr>
      <vt:lpstr>Calibri</vt:lpstr>
      <vt:lpstr>MS PGothic</vt:lpstr>
      <vt:lpstr>Arial Narrow</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Natalia Andrea Saldarriaga</dc:creator>
  <cp:lastModifiedBy>Usuario</cp:lastModifiedBy>
  <cp:revision>16</cp:revision>
  <dcterms:modified xsi:type="dcterms:W3CDTF">2026-06-04T13:04:30Z</dcterms:modified>
</cp:coreProperties>
</file>